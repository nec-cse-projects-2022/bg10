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media/image3.jpg" ContentType="image/jpeg"/>
  <Override PartName="/ppt/media/image4.jpg" ContentType="image/jpeg"/>
  <Override PartName="/ppt/media/image5.jpg" ContentType="image/jpeg"/>
  <Override PartName="/ppt/charts/chart2.xml" ContentType="application/vnd.openxmlformats-officedocument.drawingml.chart+xml"/>
  <Override PartName="/ppt/media/image6.jpg" ContentType="image/jpeg"/>
  <Override PartName="/ppt/media/image8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7" r:id="rId2"/>
    <p:sldId id="258" r:id="rId3"/>
    <p:sldId id="259" r:id="rId4"/>
    <p:sldId id="260" r:id="rId5"/>
    <p:sldId id="278" r:id="rId6"/>
    <p:sldId id="299" r:id="rId7"/>
    <p:sldId id="279" r:id="rId8"/>
    <p:sldId id="295" r:id="rId9"/>
    <p:sldId id="261" r:id="rId10"/>
    <p:sldId id="262" r:id="rId11"/>
    <p:sldId id="282" r:id="rId12"/>
    <p:sldId id="263" r:id="rId13"/>
    <p:sldId id="281" r:id="rId14"/>
    <p:sldId id="264" r:id="rId15"/>
    <p:sldId id="265" r:id="rId16"/>
    <p:sldId id="291" r:id="rId17"/>
    <p:sldId id="292" r:id="rId18"/>
    <p:sldId id="302" r:id="rId19"/>
    <p:sldId id="266" r:id="rId20"/>
    <p:sldId id="285" r:id="rId21"/>
    <p:sldId id="286" r:id="rId22"/>
    <p:sldId id="267" r:id="rId23"/>
    <p:sldId id="287" r:id="rId24"/>
    <p:sldId id="288" r:id="rId25"/>
    <p:sldId id="290" r:id="rId26"/>
    <p:sldId id="268" r:id="rId27"/>
    <p:sldId id="293" r:id="rId28"/>
    <p:sldId id="269" r:id="rId29"/>
    <p:sldId id="301" r:id="rId30"/>
    <p:sldId id="289" r:id="rId31"/>
    <p:sldId id="270" r:id="rId32"/>
    <p:sldId id="296" r:id="rId33"/>
    <p:sldId id="284" r:id="rId34"/>
    <p:sldId id="271" r:id="rId35"/>
    <p:sldId id="283" r:id="rId36"/>
    <p:sldId id="297" r:id="rId37"/>
    <p:sldId id="272" r:id="rId38"/>
    <p:sldId id="298" r:id="rId39"/>
    <p:sldId id="273" r:id="rId40"/>
    <p:sldId id="300" r:id="rId4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AFED89-F098-40FA-ADA3-64B717FEDEB2}" v="10" dt="2026-02-09T09:53:32.0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071" autoAdjust="0"/>
    <p:restoredTop sz="94660"/>
  </p:normalViewPr>
  <p:slideViewPr>
    <p:cSldViewPr>
      <p:cViewPr>
        <p:scale>
          <a:sx n="68" d="100"/>
          <a:sy n="68" d="100"/>
        </p:scale>
        <p:origin x="-56" y="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>
        <c:manualLayout>
          <c:layoutTarget val="inner"/>
          <c:xMode val="edge"/>
          <c:yMode val="edge"/>
          <c:x val="9.1060531496062996E-2"/>
          <c:y val="0.15232259162049189"/>
          <c:w val="0.90893946850393703"/>
          <c:h val="0.7183513171964615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Cloths</c:v>
                </c:pt>
                <c:pt idx="1">
                  <c:v>Glass</c:v>
                </c:pt>
                <c:pt idx="2">
                  <c:v>Shoes</c:v>
                </c:pt>
                <c:pt idx="3">
                  <c:v>Paper</c:v>
                </c:pt>
                <c:pt idx="4">
                  <c:v>Plastic</c:v>
                </c:pt>
                <c:pt idx="5">
                  <c:v>Battery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20.399999999999999</c:v>
                </c:pt>
                <c:pt idx="1">
                  <c:v>18.399999999999999</c:v>
                </c:pt>
                <c:pt idx="2">
                  <c:v>12.1</c:v>
                </c:pt>
                <c:pt idx="3">
                  <c:v>10</c:v>
                </c:pt>
                <c:pt idx="4">
                  <c:v>5.5</c:v>
                </c:pt>
                <c:pt idx="5">
                  <c:v>4.8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53-4875-8073-B93C098EA4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5805952"/>
        <c:axId val="135820032"/>
      </c:barChart>
      <c:catAx>
        <c:axId val="1358059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35820032"/>
        <c:crosses val="autoZero"/>
        <c:auto val="1"/>
        <c:lblAlgn val="ctr"/>
        <c:lblOffset val="100"/>
        <c:noMultiLvlLbl val="0"/>
      </c:catAx>
      <c:valAx>
        <c:axId val="1358200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580595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RepVGG</c:v>
                </c:pt>
                <c:pt idx="1">
                  <c:v>RepVGG-MEM</c:v>
                </c:pt>
                <c:pt idx="2">
                  <c:v>RepVGG-MEM (Pruned)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83.4</c:v>
                </c:pt>
                <c:pt idx="1">
                  <c:v>91.77</c:v>
                </c:pt>
                <c:pt idx="2">
                  <c:v>95.06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CEE-484E-B808-B7EE50DE91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4866944"/>
        <c:axId val="124868480"/>
      </c:barChart>
      <c:catAx>
        <c:axId val="1248669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24868480"/>
        <c:crosses val="autoZero"/>
        <c:auto val="1"/>
        <c:lblAlgn val="ctr"/>
        <c:lblOffset val="100"/>
        <c:noMultiLvlLbl val="0"/>
      </c:catAx>
      <c:valAx>
        <c:axId val="1248684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4866944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3C7E6-0935-4850-A48E-3AD1AB2C2CF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20B40-91FC-4866-B026-C25EDED92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298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20B40-91FC-4866-B026-C25EDED927F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62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20B40-91FC-4866-B026-C25EDED927F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452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20B40-91FC-4866-B026-C25EDED927F8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897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0A5C7CF-6CF4-537F-76BA-84F43D89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9ED38F4F-BD79-4A28-BE62-B24C9A965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195A0F9-08DF-8725-D966-AA7BB81D6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F0F9F69-F915-46F8-B1D0-D7ED73CC8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20B40-91FC-4866-B026-C25EDED927F8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004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smtClean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1356-024-33233-w" TargetMode="External"/><Relationship Id="rId2" Type="http://schemas.openxmlformats.org/officeDocument/2006/relationships/hyperlink" Target="https://doi.org/10.1109/ACCESS.2024.3495982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i.org/10.1007/s11042-024-18939-w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mailto:ramyakondavarju@gmail.com" TargetMode="External"/><Relationship Id="rId2" Type="http://schemas.openxmlformats.org/officeDocument/2006/relationships/hyperlink" Target="mailto:jaysri0345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poojithach31@gmail.com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666625"/>
            <a:ext cx="10228960" cy="1562461"/>
          </a:xfrm>
          <a:prstGeom prst="rect">
            <a:avLst/>
          </a:prstGeom>
        </p:spPr>
        <p:txBody>
          <a:bodyPr vert="horz" wrap="square" lIns="0" tIns="478010" rIns="0" bIns="0" rtlCol="0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/>
              <a:t>Engineering</a:t>
            </a:r>
            <a:endParaRPr lang="en-IN" sz="1800" spc="-10" dirty="0"/>
          </a:p>
          <a:p>
            <a:pPr marL="248285" algn="ctr">
              <a:lnSpc>
                <a:spcPct val="100000"/>
              </a:lnSpc>
              <a:spcBef>
                <a:spcPts val="545"/>
              </a:spcBef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Structured-Pruned and EMA-Augmented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RepVGG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for Real-Time Trash Classification</a:t>
            </a:r>
            <a:endParaRPr lang="en-US"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5410200" y="2276204"/>
            <a:ext cx="1702737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1400" y="2515659"/>
            <a:ext cx="2819399" cy="9830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spc="-10" dirty="0">
                <a:latin typeface="Times New Roman"/>
                <a:cs typeface="Times New Roman"/>
              </a:rPr>
              <a:t>Kakumanu Sravani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endParaRPr lang="en-US" sz="1550" spc="-1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spc="-10" dirty="0">
                <a:latin typeface="Times New Roman"/>
                <a:cs typeface="Times New Roman"/>
              </a:rPr>
              <a:t>Kondavarju Ramya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spc="-10" dirty="0" err="1">
                <a:latin typeface="Times New Roman"/>
                <a:cs typeface="Times New Roman"/>
              </a:rPr>
              <a:t>Chinthalanka</a:t>
            </a:r>
            <a:r>
              <a:rPr lang="en-US" sz="1550" spc="-10" dirty="0">
                <a:latin typeface="Times New Roman"/>
                <a:cs typeface="Times New Roman"/>
              </a:rPr>
              <a:t> Poojitha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07885" y="2562522"/>
            <a:ext cx="1326515" cy="99578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US" sz="1550" dirty="0">
                <a:latin typeface="Times New Roman"/>
                <a:cs typeface="Times New Roman"/>
              </a:rPr>
              <a:t>22471A0597</a:t>
            </a:r>
            <a:r>
              <a:rPr sz="1550" spc="-20" dirty="0"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US" sz="1550" dirty="0">
                <a:latin typeface="Times New Roman"/>
                <a:cs typeface="Times New Roman"/>
              </a:rPr>
              <a:t>22471A05A4</a:t>
            </a:r>
            <a:r>
              <a:rPr sz="1550" spc="-20" dirty="0"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US" sz="1550" dirty="0">
                <a:latin typeface="Times New Roman"/>
                <a:cs typeface="Times New Roman"/>
              </a:rPr>
              <a:t>22471A0584</a:t>
            </a:r>
            <a:r>
              <a:rPr sz="1550" spc="-20" dirty="0"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1839" y="3898242"/>
            <a:ext cx="4304665" cy="224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lang="en-US"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lang="en-US"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lang="en-US"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lang="en-US"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IN" sz="1550" dirty="0" err="1">
                <a:latin typeface="Times New Roman"/>
                <a:cs typeface="Times New Roman"/>
              </a:rPr>
              <a:t>Dr.Sireesha</a:t>
            </a:r>
            <a:r>
              <a:rPr lang="en-IN" sz="1550" dirty="0">
                <a:latin typeface="Times New Roman"/>
                <a:cs typeface="Times New Roman"/>
              </a:rPr>
              <a:t> </a:t>
            </a:r>
            <a:r>
              <a:rPr lang="en-IN" sz="1550" dirty="0" err="1">
                <a:latin typeface="Times New Roman"/>
                <a:cs typeface="Times New Roman"/>
              </a:rPr>
              <a:t>Moturi,</a:t>
            </a:r>
            <a:r>
              <a:rPr lang="en-IN" sz="900" dirty="0" err="1">
                <a:latin typeface="Times New Roman"/>
                <a:cs typeface="Times New Roman"/>
              </a:rPr>
              <a:t>Mtech,Phd</a:t>
            </a:r>
            <a:endParaRPr lang="en-IN" sz="9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lang="en-IN"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Associate Professor,</a:t>
            </a:r>
            <a:endParaRPr lang="en-IN"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lang="en-US"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lang="en-US"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lang="en-US"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lang="en-US"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lang="en-US"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lang="en-US"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lang="en-US"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lang="en-US" sz="1550" dirty="0" err="1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lang="en-US"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lang="en-US"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lang="en-US"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lang="en-US"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lang="en-US"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lang="en-US"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lang="en-US"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31344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err="1"/>
              <a:t>Batch</a:t>
            </a:r>
            <a:r>
              <a:rPr spc="-25" dirty="0" err="1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05600" y="6487981"/>
            <a:ext cx="13909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529843"/>
            <a:ext cx="26130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412438" y="6451049"/>
            <a:ext cx="1064562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</a:p>
          <a:p>
            <a:pPr marL="12700">
              <a:lnSpc>
                <a:spcPts val="1410"/>
              </a:lnSpc>
            </a:pPr>
            <a:r>
              <a:rPr lang="en-IN" spc="-25" dirty="0"/>
              <a:t> 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53201" y="6451049"/>
            <a:ext cx="14095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173924"/>
            <a:ext cx="3450590" cy="45085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Abstract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Introduction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Literature</a:t>
            </a:r>
            <a:r>
              <a:rPr sz="1800" spc="-10" dirty="0">
                <a:latin typeface="Times New Roman"/>
                <a:cs typeface="Times New Roman"/>
              </a:rPr>
              <a:t> Survey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Gaps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Problem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Statement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Objectives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Block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Methodology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Implementation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Conclusion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Future </a:t>
            </a:r>
            <a:r>
              <a:rPr sz="1800" spc="-20" dirty="0">
                <a:latin typeface="Times New Roman"/>
                <a:cs typeface="Times New Roman"/>
              </a:rPr>
              <a:t>Scope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References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Question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Answers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Acknowledgements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28157" y="6465823"/>
            <a:ext cx="123461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27C398C4-E293-BD33-8FE9-9DA5AA662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" y="1629371"/>
            <a:ext cx="1028382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RepVGG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-MEM is a lightweight and highly accurate Deep Learning model for real-time waste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on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RepVGG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with EMA,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Mixup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augmentation, and structured pruning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Achieves 95.06% accuracy and 94.5% F1 score on 14-class waste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Ideal for edge devices and smart mobile waste management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design enables deployment on smart bins and mobile platforms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Promising solution for automated waste management in real-world situations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lang="en-IN"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05600" y="6451049"/>
            <a:ext cx="13716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CB3012EC-C67F-FBA1-D860-9CA7371EEFAE}"/>
              </a:ext>
            </a:extLst>
          </p:cNvPr>
          <p:cNvSpPr txBox="1">
            <a:spLocks/>
          </p:cNvSpPr>
          <p:nvPr/>
        </p:nvSpPr>
        <p:spPr>
          <a:xfrm>
            <a:off x="1107347" y="1828800"/>
            <a:ext cx="9717346" cy="4043967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>
              <a:defRPr sz="275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="" xmlns:a16="http://schemas.microsoft.com/office/drawing/2014/main" id="{87014649-4D58-C67A-0C7A-54A8EF6BE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704" y="1203498"/>
            <a:ext cx="1010107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Improper segregation causes pollution, greenhouse gas emissions, and resource depletion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segregation separates plastics, organic compounds, glasses, metals, and papers for conservation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urban growth increases waste with limited public services and health infrastructure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sorting systems are hazardous, time-consuming, and cannot scale with global waste increase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RepVGG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-MEM addresses current challenges with lightweight design for real-time waste classification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81800" y="6400799"/>
            <a:ext cx="17526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CB3012EC-C67F-FBA1-D860-9CA7371EEFAE}"/>
              </a:ext>
            </a:extLst>
          </p:cNvPr>
          <p:cNvSpPr txBox="1">
            <a:spLocks/>
          </p:cNvSpPr>
          <p:nvPr/>
        </p:nvSpPr>
        <p:spPr>
          <a:xfrm>
            <a:off x="1107347" y="1828800"/>
            <a:ext cx="9717346" cy="4043967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>
              <a:defRPr sz="275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="" xmlns:a16="http://schemas.microsoft.com/office/drawing/2014/main" id="{87014649-4D58-C67A-0C7A-54A8EF6BE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704" y="1295831"/>
            <a:ext cx="1010107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applies EMA for stable learning,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Mixup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generalization, and structured pruning for efficiency.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smart bins, edge devices, and portable real-time waste sorting in diverse environments.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When recyclable and non-recyclable materials are not properly separated, they end up in landfills, releasing methane and carbon dioxide, which contribute to global warming.</a:t>
            </a:r>
          </a:p>
        </p:txBody>
      </p:sp>
    </p:spTree>
    <p:extLst>
      <p:ext uri="{BB962C8B-B14F-4D97-AF65-F5344CB8AC3E}">
        <p14:creationId xmlns:p14="http://schemas.microsoft.com/office/powerpoint/2010/main" val="3449347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D3D586C-43B4-646F-97AD-02F93EC3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="" xmlns:a16="http://schemas.microsoft.com/office/drawing/2014/main" id="{191024C6-C716-99F5-9A05-B96DBB71232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DB0EB40F-8F78-2B10-3EAB-6EF50FAC614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24541F8D-25E2-CFCA-46E7-67F6886C667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7878ED66-16EA-AF46-8E8D-793674EC237A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DC40E630-BA6A-F83A-379E-044D9303993D}"/>
              </a:ext>
            </a:extLst>
          </p:cNvPr>
          <p:cNvSpPr txBox="1"/>
          <p:nvPr/>
        </p:nvSpPr>
        <p:spPr>
          <a:xfrm>
            <a:off x="6781800" y="6400799"/>
            <a:ext cx="17526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7F02E48C-0C39-AE02-F892-82FD90F4417E}"/>
              </a:ext>
            </a:extLst>
          </p:cNvPr>
          <p:cNvSpPr txBox="1">
            <a:spLocks/>
          </p:cNvSpPr>
          <p:nvPr/>
        </p:nvSpPr>
        <p:spPr>
          <a:xfrm>
            <a:off x="1107347" y="1828800"/>
            <a:ext cx="9717346" cy="4043967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>
              <a:defRPr sz="275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="" xmlns:a16="http://schemas.microsoft.com/office/drawing/2014/main" id="{E328A4C8-2E36-74F1-26DF-5CE07343F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453" y="1447789"/>
            <a:ext cx="1010107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Proper segregation helps in separating plastics, glass, metals, organic waste, and paper at the source, ensuring better recycling and material recovery.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This process supports a cleaner and more sustainable environment by reducing landfill dependency and conserving energy.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72002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="" xmlns:a16="http://schemas.microsoft.com/office/drawing/2014/main" id="{4B8E5248-62E8-5CD7-4C4B-A4FF1B88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85" y="811520"/>
            <a:ext cx="10101072" cy="677108"/>
          </a:xfrm>
        </p:spPr>
        <p:txBody>
          <a:bodyPr/>
          <a:lstStyle/>
          <a:p>
            <a:r>
              <a:rPr lang="en-US" dirty="0"/>
              <a:t>               </a:t>
            </a:r>
            <a:r>
              <a:rPr lang="en-US" dirty="0" smtClean="0"/>
              <a:t>CORE </a:t>
            </a:r>
            <a:r>
              <a:rPr lang="en-US" dirty="0"/>
              <a:t>CONTRIBUTIONS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5600" y="6477000"/>
            <a:ext cx="12571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CB3012EC-C67F-FBA1-D860-9CA7371EEFAE}"/>
              </a:ext>
            </a:extLst>
          </p:cNvPr>
          <p:cNvSpPr txBox="1">
            <a:spLocks/>
          </p:cNvSpPr>
          <p:nvPr/>
        </p:nvSpPr>
        <p:spPr>
          <a:xfrm>
            <a:off x="1107347" y="1828800"/>
            <a:ext cx="9717346" cy="4043967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>
              <a:defRPr sz="275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="" xmlns:a16="http://schemas.microsoft.com/office/drawing/2014/main" id="{AB1078B2-926C-8692-88B3-E8D545FB4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4" y="1915121"/>
            <a:ext cx="1040295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RepVGG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-MEM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lightweight deep learning framework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garbage classification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optimized for accuracy and speed.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Exponential Moving Average (EMA)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training to stabilize weight updates and improve generalization, especially after pruning.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Mixup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augmentation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enhance robustness against visually similar waste categories and reduce overfitting.</a:t>
            </a:r>
          </a:p>
        </p:txBody>
      </p:sp>
    </p:spTree>
    <p:extLst>
      <p:ext uri="{BB962C8B-B14F-4D97-AF65-F5344CB8AC3E}">
        <p14:creationId xmlns:p14="http://schemas.microsoft.com/office/powerpoint/2010/main" val="3702447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D021307-66BA-DA32-4BB3-5845A6286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="" xmlns:a16="http://schemas.microsoft.com/office/drawing/2014/main" id="{77F59099-E639-B4EA-D330-E8541104AB1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8FEDE389-5CD4-6C67-5830-8335EDACDEC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13B36345-72F3-AAAD-F3E2-4E674FFA2BD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542E9E4E-2D99-28DA-D3AE-6150268DC1D7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770761A1-8DD2-C54F-6D5A-4EAA6620DB0C}"/>
              </a:ext>
            </a:extLst>
          </p:cNvPr>
          <p:cNvSpPr txBox="1"/>
          <p:nvPr/>
        </p:nvSpPr>
        <p:spPr>
          <a:xfrm>
            <a:off x="6781800" y="6400799"/>
            <a:ext cx="17526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A0714049-C165-03BF-F78E-83E1E0316AA7}"/>
              </a:ext>
            </a:extLst>
          </p:cNvPr>
          <p:cNvSpPr txBox="1">
            <a:spLocks/>
          </p:cNvSpPr>
          <p:nvPr/>
        </p:nvSpPr>
        <p:spPr>
          <a:xfrm>
            <a:off x="646474" y="1407017"/>
            <a:ext cx="10674051" cy="400318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>
              <a:defRPr sz="275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881A165-93EE-741C-61C9-9B827442C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526" y="1407017"/>
            <a:ext cx="10187050" cy="370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structured magnitude-based pruning, significantly reducing model complexity while maintaining high classification performance.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superior results with 95.06% accuracy and 94.5% F1-score, outperforming baseline </a:t>
            </a:r>
            <a:r>
              <a:rPr kumimoji="0" lang="en-US" altLang="en-US" sz="4400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RepVGG</a:t>
            </a:r>
            <a:r>
              <a:rPr kumimoji="0" lang="en-US" altLang="en-US" sz="440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variants.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for edge deployment, enabling practical use in smart bins and mobile waste management systems.</a:t>
            </a:r>
          </a:p>
        </p:txBody>
      </p:sp>
    </p:spTree>
    <p:extLst>
      <p:ext uri="{BB962C8B-B14F-4D97-AF65-F5344CB8AC3E}">
        <p14:creationId xmlns:p14="http://schemas.microsoft.com/office/powerpoint/2010/main" val="334302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9865" y="283463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9888" y="6451049"/>
            <a:ext cx="129351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475145"/>
              </p:ext>
            </p:extLst>
          </p:nvPr>
        </p:nvGraphicFramePr>
        <p:xfrm>
          <a:off x="679450" y="1052195"/>
          <a:ext cx="10822939" cy="52314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3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4373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61988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67132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8872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54622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54622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85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Title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Journal &amp; Year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Methodology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 Findings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Gaps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24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RepVGG-MEM: Lightweight model for garbage classification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Sayed et al. [4]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IEEE Access, 2025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RepVGG + MSCA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93.26% accuracy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generalization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64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Reliable deep learning model for recyclable waste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Hossen et al. [5]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IEEE Access, 2024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DenseNet201 + MobileNetV2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95.01% accuracy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 complexity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64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Integrated learning for municipal waste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 et al. [6]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IEEE Access, 2024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Ensemble + HHO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97.45% accuracy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computational cost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864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Detection of recyclable solid waste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Lapo et al. [7]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IEEE Latin America, 2024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RetinaNet + ResNet-50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97% accuracy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edge-friendly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864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Real-time waste detection using YOLOv12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Dipo et al. [8]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Digital, 2025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YOLOv12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78% mAP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Lower accuracy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8821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LITERATURE</a:t>
            </a:r>
            <a:r>
              <a:rPr spc="-204" dirty="0"/>
              <a:t> </a:t>
            </a:r>
            <a:r>
              <a:rPr spc="-10" dirty="0"/>
              <a:t>SURVEY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05600" y="6451049"/>
            <a:ext cx="12571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219200"/>
            <a:ext cx="10896600" cy="53726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Advances in Waste Classification: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Models with Attention Mechanisms: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Sayed et al. [4]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RepVGG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-MEM with MSCA module →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93.26% accuracy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(compact structure, limited generalization)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Deep Learning Approaches: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Hossen et al. [5]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RWC-Net (DenseNet201 + MobileNetV2) →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95.01% accuracy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(5-fold CV, Score CAM visualization)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 et al. [6]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Ensemble (DenseNet161 + ResNet152 + MobileNetV3) + HHO optimization →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97.45% accuracy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(high complexity, not edge-friendly)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Models: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Lapo et al. [7]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RetinaNet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ResNet-50 backbone →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97% accuracy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(recyclable waste detection, computationally expensive)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Dipo et al. [8]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YOLOv12 for real-time classification →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78%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(mobile-based, lower accuracy)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Metaheuristic Optimization: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Sayed et al. [9]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InceptionV3 + Multi-objective Beluga Whale Optimization (MBWO) →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97.75% accuracy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(complex tuning)</a:t>
            </a:r>
          </a:p>
          <a:p>
            <a:pPr marL="240665" indent="-22796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66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8821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LITERATURE</a:t>
            </a:r>
            <a:r>
              <a:rPr spc="-204" dirty="0"/>
              <a:t> </a:t>
            </a:r>
            <a:r>
              <a:rPr spc="-10" dirty="0"/>
              <a:t>SURVEY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:BG10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629400" y="6436275"/>
            <a:ext cx="13333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905000"/>
            <a:ext cx="10046806" cy="332078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like VGG,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YOLO have proven effective for waste classification.</a:t>
            </a:r>
          </a:p>
          <a:p>
            <a:pPr marL="240665" indent="-22796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many are computationally intensive, limiting deployment on smart bins or mobile systems.</a:t>
            </a:r>
          </a:p>
          <a:p>
            <a:pPr marL="240665" indent="-22796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WasteNet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RepVGG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-MEM) model addresses these issues through structured pruning, EMA-based optimization, and lightweight design for real-time applications.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459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49864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05600" y="6449864"/>
            <a:ext cx="13716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8359775" cy="52322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44769B3C-30A8-1963-3D87-3266CE20D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463" y="1380274"/>
            <a:ext cx="977493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High-accuracy models have heavy computational requirements unsuitable for edge devices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models sacrifice accuracy for speed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unified framework balancing accuracy, speed,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Independent application of optimization techniques (EMA,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Mixup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Pruning) shows suboptimal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solutions for resource-constrained environments like smart bins and mobile platforms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optimal accuracy-speed-size tradeoff for real-world deployment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28157" y="6451049"/>
            <a:ext cx="123461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8359775" cy="52322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44769B3C-30A8-1963-3D87-3266CE20D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463" y="1087888"/>
            <a:ext cx="9774936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models for waste classification are computationally heavy and unsuitable for real-time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deep learning models lack optimization for edge devices like smart bins and mobile systems.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drops occur when classifying visually similar waste materials such as plastic and metal.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dataset diversity affects the model’s generalization in real-world environments.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 studies focus on combining structured pruning and EMA techniques for performance improvement.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lightweight, accurate, and fast model for smart and sustainable waste management.</a:t>
            </a:r>
          </a:p>
        </p:txBody>
      </p:sp>
    </p:spTree>
    <p:extLst>
      <p:ext uri="{BB962C8B-B14F-4D97-AF65-F5344CB8AC3E}">
        <p14:creationId xmlns:p14="http://schemas.microsoft.com/office/powerpoint/2010/main" val="551913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49864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29400" y="6449865"/>
            <a:ext cx="13333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28800"/>
            <a:ext cx="9979025" cy="4573047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urbanization generates unprecedented municipal solid waste volumes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segregation causes environmental pollution, greenhouse emissions, and resource depletion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sorting is hazardous, time-consuming, and cannot scale with growing waste volumes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CNN-based models face accuracy-efficiency-deployment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High-accuracy models are computationally expensive and unsuitable for edge devices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models compromise classification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intelligent automated system achieving high accuracy with real-time operation on edge devices</a:t>
            </a: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05600" y="6465823"/>
            <a:ext cx="12571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8645525" cy="52322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52705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="" xmlns:a16="http://schemas.microsoft.com/office/drawing/2014/main" id="{AE99B303-7F6A-653A-3D10-8809C10DE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707398"/>
            <a:ext cx="990282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lightweight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RepVGG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-MEM framework integrating EMA,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Mixup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MSCA, and structured pruning for real-time waste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 high accuracy (&gt;90%) across 14 waste categories including closely resembling items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computational efficiency through structured pruning to reduce FLOPs for edge deployment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deployment on resource-constrained devices including smart bins and mobile platforms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82F2DC5-6518-825A-FBD5-0107C25D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C11D5971-1040-03F6-8E9F-2C6A489110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lang="en-US" spc="-10" dirty="0"/>
              <a:t>DATASET DESCRIPTION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AF49BC7A-A2E9-D3B4-C0BC-622BB27DE2D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7C4D6E1E-D986-4C1F-DC2A-9BDD39EAC623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DF1AA977-D2ED-B607-EE99-A5E945C6EA7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4E3F9B17-B492-B461-A1B5-25FFA086721B}"/>
              </a:ext>
            </a:extLst>
          </p:cNvPr>
          <p:cNvSpPr txBox="1"/>
          <p:nvPr/>
        </p:nvSpPr>
        <p:spPr>
          <a:xfrm>
            <a:off x="6705600" y="6465823"/>
            <a:ext cx="12571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2146AF34-6A8F-4ABF-87AA-4A2963C4D60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6D7F4A37-8AB6-34DC-7619-E74B2DE32B7D}"/>
              </a:ext>
            </a:extLst>
          </p:cNvPr>
          <p:cNvSpPr txBox="1"/>
          <p:nvPr/>
        </p:nvSpPr>
        <p:spPr>
          <a:xfrm>
            <a:off x="917575" y="1730872"/>
            <a:ext cx="8645525" cy="52322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52705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="" xmlns:a16="http://schemas.microsoft.com/office/drawing/2014/main" id="{936D7D41-95FD-93FA-87F9-BD40FDD13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061068"/>
            <a:ext cx="9902825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Combined public datasets: </a:t>
            </a:r>
            <a:r>
              <a:rPr lang="en-IN" sz="2800" dirty="0" err="1"/>
              <a:t>TrashNet</a:t>
            </a:r>
            <a:r>
              <a:rPr lang="en-IN" sz="2800" dirty="0"/>
              <a:t>, Kaggle Garbage, </a:t>
            </a:r>
            <a:r>
              <a:rPr lang="en-IN" sz="2800" dirty="0" err="1"/>
              <a:t>PublicGarbageNet</a:t>
            </a:r>
            <a:endParaRPr lang="en-IN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Over 15,000 </a:t>
            </a:r>
            <a:r>
              <a:rPr lang="en-IN" sz="2800" dirty="0" err="1"/>
              <a:t>labeled</a:t>
            </a:r>
            <a:r>
              <a:rPr lang="en-IN" sz="2800" dirty="0"/>
              <a:t>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14 waste categories including plastic, glass, paper, metal, cloths.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Training: 60%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Validation: 20%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Testing: 20%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Ensures reliable and unbiased evaluation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71854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14C4131-4266-20DD-8B37-8418EDCD1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A9451BA6-3436-F06D-8D58-D0CA3DC79B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326897" y="741906"/>
            <a:ext cx="13030200" cy="881009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lang="en-US" sz="4000" spc="-10" dirty="0"/>
              <a:t>DATASET CATEGORY DISTRIBUTION</a:t>
            </a:r>
            <a:endParaRPr sz="4000" spc="-10" dirty="0"/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006DA76F-F662-1B9F-05C4-E2CAF4B47E6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6AA78EE0-1A0F-8140-0794-885D61E507D1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0D0B334D-83F1-7C7F-5DFE-D487AA33039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C53508BF-659F-CD82-63D6-33F1E93EDCE9}"/>
              </a:ext>
            </a:extLst>
          </p:cNvPr>
          <p:cNvSpPr txBox="1"/>
          <p:nvPr/>
        </p:nvSpPr>
        <p:spPr>
          <a:xfrm>
            <a:off x="6705600" y="6465823"/>
            <a:ext cx="12571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2B69FEA3-1AB6-6EE1-34CD-EF2F122922B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8ED0E126-FC87-A56D-BC5C-7B091FA2D636}"/>
              </a:ext>
            </a:extLst>
          </p:cNvPr>
          <p:cNvSpPr txBox="1"/>
          <p:nvPr/>
        </p:nvSpPr>
        <p:spPr>
          <a:xfrm>
            <a:off x="917575" y="1730872"/>
            <a:ext cx="8645525" cy="52322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52705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="" xmlns:a16="http://schemas.microsoft.com/office/drawing/2014/main" id="{E6989920-D441-D417-B782-5DF1D2717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000060"/>
            <a:ext cx="990282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sz="2400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="" xmlns:a16="http://schemas.microsoft.com/office/drawing/2014/main" id="{5EA69995-DBD6-8493-D494-7D1026ED3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056244"/>
              </p:ext>
            </p:extLst>
          </p:nvPr>
        </p:nvGraphicFramePr>
        <p:xfrm>
          <a:off x="2438400" y="1903136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02036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2DCA70D-A060-141A-CB95-B0FEA98C0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5DC4C893-D3BB-2F42-E314-DDAB24F8B3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612" y="681766"/>
            <a:ext cx="10101072" cy="881009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lang="en-US" sz="4000" spc="-10" dirty="0"/>
              <a:t>   PRE - PROCESSING</a:t>
            </a:r>
            <a:endParaRPr sz="4000" spc="-10" dirty="0"/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7232DDA0-ED5E-618A-D923-02EBF6E5983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732FB39D-8F76-7C38-FED3-76F8CD303FC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AD70346F-DB34-9402-0CDF-1878717C2FC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3F034E98-8503-BD5D-26A9-339CF3AC5C9A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43FDA55D-0A94-2EA6-BE04-F811AA721DCC}"/>
              </a:ext>
            </a:extLst>
          </p:cNvPr>
          <p:cNvSpPr txBox="1"/>
          <p:nvPr/>
        </p:nvSpPr>
        <p:spPr>
          <a:xfrm>
            <a:off x="6705600" y="6465823"/>
            <a:ext cx="12571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9A5C435D-16D0-1E71-23D3-F7409DF38CFA}"/>
              </a:ext>
            </a:extLst>
          </p:cNvPr>
          <p:cNvSpPr txBox="1"/>
          <p:nvPr/>
        </p:nvSpPr>
        <p:spPr>
          <a:xfrm>
            <a:off x="917575" y="1730872"/>
            <a:ext cx="8645525" cy="52322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52705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="" xmlns:a16="http://schemas.microsoft.com/office/drawing/2014/main" id="{3905AA30-160C-56DF-ECA4-76E68CCDE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000060"/>
            <a:ext cx="990282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sz="24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="" xmlns:a16="http://schemas.microsoft.com/office/drawing/2014/main" id="{204DC818-5235-597F-9D64-F022AF4413F0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47883" y="2099152"/>
            <a:ext cx="3850338" cy="3279143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="" xmlns:a16="http://schemas.microsoft.com/office/drawing/2014/main" id="{75AA002A-022B-7BB9-5283-16C9B420C830}"/>
              </a:ext>
            </a:extLst>
          </p:cNvPr>
          <p:cNvPicPr>
            <a:picLocks noGrp="1"/>
          </p:cNvPicPr>
          <p:nvPr>
            <p:ph sz="half" idx="3"/>
          </p:nvPr>
        </p:nvPicPr>
        <p:blipFill>
          <a:blip r:embed="rId3"/>
          <a:stretch>
            <a:fillRect/>
          </a:stretch>
        </p:blipFill>
        <p:spPr>
          <a:xfrm>
            <a:off x="7488935" y="2050672"/>
            <a:ext cx="3657600" cy="327914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="" xmlns:a16="http://schemas.microsoft.com/office/drawing/2014/main" id="{DB36B8AD-A36F-2C06-A7FD-0BE59FC7E5C5}"/>
              </a:ext>
            </a:extLst>
          </p:cNvPr>
          <p:cNvSpPr/>
          <p:nvPr/>
        </p:nvSpPr>
        <p:spPr>
          <a:xfrm>
            <a:off x="6324600" y="373872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045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6442" y="570606"/>
            <a:ext cx="10101072" cy="120000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BLOCK</a:t>
            </a:r>
            <a:r>
              <a:rPr sz="3950" spc="60" dirty="0"/>
              <a:t> </a:t>
            </a:r>
            <a:r>
              <a:rPr sz="3950" dirty="0"/>
              <a:t>DIAGRAM</a:t>
            </a:r>
            <a:r>
              <a:rPr sz="3950" spc="90" dirty="0"/>
              <a:t> </a:t>
            </a:r>
            <a:r>
              <a:rPr sz="3950" dirty="0"/>
              <a:t>OR</a:t>
            </a:r>
            <a:r>
              <a:rPr sz="3950" spc="70" dirty="0"/>
              <a:t> </a:t>
            </a:r>
            <a:r>
              <a:rPr sz="3950" dirty="0"/>
              <a:t>FLOW</a:t>
            </a:r>
            <a:r>
              <a:rPr sz="3950" spc="-60" dirty="0"/>
              <a:t> </a:t>
            </a:r>
            <a:r>
              <a:rPr sz="3950" spc="-10" dirty="0"/>
              <a:t>DIAGRAM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05600" y="6451048"/>
            <a:ext cx="13716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90F1753-A57B-FB1F-9721-D4AC0EDBC6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09800" y="1752600"/>
            <a:ext cx="69342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5600" y="6451049"/>
            <a:ext cx="13716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19200" y="1143000"/>
            <a:ext cx="10287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block diagram illustrates the complete workflow of the </a:t>
            </a:r>
            <a:r>
              <a:rPr lang="en-IN" sz="2400" dirty="0" err="1"/>
              <a:t>WasteNet</a:t>
            </a:r>
            <a:r>
              <a:rPr lang="en-IN" sz="2400" dirty="0"/>
              <a:t> (</a:t>
            </a:r>
            <a:r>
              <a:rPr lang="en-IN" sz="2400" dirty="0" err="1"/>
              <a:t>RepVGG</a:t>
            </a:r>
            <a:r>
              <a:rPr lang="en-IN" sz="2400" dirty="0"/>
              <a:t>-MEM) model designed for real-time trash classification. The diagram provides a clear visual representation of how raw input data is processed and transformed into accurate waste category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Input Layer: The process begins with the input of waste images, which are captured from various sources such as cameras, smartphones, or </a:t>
            </a:r>
            <a:r>
              <a:rPr lang="en-US" sz="2400" dirty="0" err="1"/>
              <a:t>IoT</a:t>
            </a:r>
            <a:r>
              <a:rPr lang="en-US" sz="2400" dirty="0"/>
              <a:t>-enabled sensors. These images may vary in size, lighting, and orientation.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Preprocessing Module: Before feeding the images into the neural network, they undergo preprocessing steps including resizing, normalization, and data augmentation to improve model robustness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2192513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1242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9400" y="6465823"/>
            <a:ext cx="14478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19200" y="1143000"/>
            <a:ext cx="10287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Feature Extraction with </a:t>
            </a:r>
            <a:r>
              <a:rPr lang="en-US" sz="2000" dirty="0" err="1"/>
              <a:t>RepVGG</a:t>
            </a:r>
            <a:r>
              <a:rPr lang="en-US" sz="2000" dirty="0"/>
              <a:t> Backbone: The preprocessed images are passed through the </a:t>
            </a:r>
            <a:r>
              <a:rPr lang="en-US" sz="2000" dirty="0" err="1"/>
              <a:t>RepVGG</a:t>
            </a:r>
            <a:r>
              <a:rPr lang="en-US" sz="2000" dirty="0"/>
              <a:t> backbone, which extracts deep, hierarchical features. </a:t>
            </a:r>
            <a:r>
              <a:rPr lang="en-US" sz="2000" dirty="0" err="1"/>
              <a:t>RepVGG</a:t>
            </a:r>
            <a:r>
              <a:rPr lang="en-US" sz="2000" dirty="0"/>
              <a:t> combines the benefits of VGG-like simplicity during inference with multi-branch structures during training, enabling high accuracy with computational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Memory Enhancement Module (MEM): The extracted features are further refined through the MEM, which enhances the network's ability to capture contextual and discriminative information, especially for similar-looking waste items.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Classification Layer: The refined features are then passed through fully connected layers, followed by a </a:t>
            </a:r>
            <a:r>
              <a:rPr lang="en-US" sz="2000" dirty="0" err="1"/>
              <a:t>softmax</a:t>
            </a:r>
            <a:r>
              <a:rPr lang="en-US" sz="2000" dirty="0"/>
              <a:t> activation function that predicts the probability distribution across predefined waste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Output Layer: The final stage outputs the predicted waste category, enabling real-time classification of the input image into types such as plastic, paper, metal, organic, or glass.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Feedback and Optimization: The model also incorporates training feedback through loss computation and </a:t>
            </a:r>
            <a:r>
              <a:rPr lang="en-US" sz="2000" dirty="0" err="1"/>
              <a:t>backpropagation</a:t>
            </a:r>
            <a:r>
              <a:rPr lang="en-US" sz="2000" dirty="0"/>
              <a:t>, allowing continuous learning and improvement of classification accuracy.</a:t>
            </a:r>
          </a:p>
        </p:txBody>
      </p:sp>
    </p:spTree>
    <p:extLst>
      <p:ext uri="{BB962C8B-B14F-4D97-AF65-F5344CB8AC3E}">
        <p14:creationId xmlns:p14="http://schemas.microsoft.com/office/powerpoint/2010/main" val="3292959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1242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05600" y="6451048"/>
            <a:ext cx="12571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43000" y="1483468"/>
            <a:ext cx="9960229" cy="447539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TrashNet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Kaggle Garbage Classification,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PublicGarbageNet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 15,000+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 across 14 waste categories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Categories: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Cardboard, Electronics, Plastic, Paper, Metal, Glass, Food, Clothing, Shoes, Battery.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Distribution: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Clothing: 20.4%, Glass: 18.4%, Shoes: 12.1%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Plastic, Biological, Battery: &lt;6% (imbalanced)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60%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20%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20%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Resolution: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224×224 pixels</a:t>
            </a:r>
          </a:p>
          <a:p>
            <a:pPr marL="241300" marR="290195" indent="-229235">
              <a:lnSpc>
                <a:spcPts val="3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9400" y="6436275"/>
            <a:ext cx="15240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95400" y="914400"/>
            <a:ext cx="1002512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Waste Categories: Includes Cardboard, Electronics, Plastic, Paper, Metal, Glass, Food, Clothing, Shoes, Battery,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Imbalance: Clothing (20.4%), Glass (18.4%), Shoes (12.1%), Plastic, Biological, Battery &lt;6%; handled using augmentation and preprocessing.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Preprocessing: Images resized to 224×224 pixels, normalized, and augmented (rotation, flip, scaling) for better model 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Dataset Split: Training (60%), Validation (20%), Testing (20%) for proper evaluation.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Feature Extraction: Used </a:t>
            </a:r>
            <a:r>
              <a:rPr lang="en-US" sz="2400" dirty="0" err="1"/>
              <a:t>RepVGG</a:t>
            </a:r>
            <a:r>
              <a:rPr lang="en-US" sz="2400" dirty="0"/>
              <a:t> backbone to extract deep features from images.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16876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5600" y="6440338"/>
            <a:ext cx="20676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22696" y="1066800"/>
            <a:ext cx="1002512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Memory Enhancement Module (MEM): Refines features to improve classification of similar waste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Classification: Fully connected layers and </a:t>
            </a:r>
            <a:r>
              <a:rPr lang="en-US" sz="2400" dirty="0" err="1"/>
              <a:t>softmax</a:t>
            </a:r>
            <a:r>
              <a:rPr lang="en-US" sz="2400" dirty="0"/>
              <a:t> function predict waste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Evaluation: Accuracy, precision, recall, and F1-score used to measure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Dataset Preparation Collected 15,000+ labeled images from </a:t>
            </a:r>
            <a:r>
              <a:rPr lang="en-US" sz="2400" dirty="0" err="1"/>
              <a:t>TrashNet</a:t>
            </a:r>
            <a:r>
              <a:rPr lang="en-US" sz="2400" dirty="0"/>
              <a:t>, </a:t>
            </a:r>
            <a:r>
              <a:rPr lang="en-US" sz="2400" dirty="0" err="1"/>
              <a:t>Kaggle</a:t>
            </a:r>
            <a:r>
              <a:rPr lang="en-US" sz="2400" dirty="0"/>
              <a:t> Garbage Classification, and </a:t>
            </a:r>
            <a:r>
              <a:rPr lang="en-US" sz="2400" dirty="0" err="1"/>
              <a:t>PublicGarbageNet</a:t>
            </a:r>
            <a:r>
              <a:rPr lang="en-US" sz="2400" dirty="0"/>
              <a:t> across 14 waste categories; images resized to 224×224 pixels and augmented to handle class imbalance.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Feature Extraction &amp; Model Used </a:t>
            </a:r>
            <a:r>
              <a:rPr lang="en-US" sz="2400" dirty="0" err="1"/>
              <a:t>RepVGG</a:t>
            </a:r>
            <a:r>
              <a:rPr lang="en-US" sz="2400" dirty="0"/>
              <a:t> backbone with Memory Enhancement Module (MEM) to extract and refine features for accurate waste classification.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80684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F4C2B6D-312C-20CB-6508-7BBF6EA10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="" xmlns:a16="http://schemas.microsoft.com/office/drawing/2014/main" id="{19171264-4031-2441-02C1-6C8F2E50A5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AE1DDD2E-5754-7838-D525-D837075801A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96FD8D06-B90D-A8E9-3E41-C55807DEF23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DDE2EC63-99A9-20E7-C003-1E105B0FB6C0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7F30B7D9-93AA-6725-F5D8-B84BB82C186B}"/>
              </a:ext>
            </a:extLst>
          </p:cNvPr>
          <p:cNvSpPr txBox="1"/>
          <p:nvPr/>
        </p:nvSpPr>
        <p:spPr>
          <a:xfrm>
            <a:off x="6705600" y="6440338"/>
            <a:ext cx="20676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B3127BB-45E2-44A5-0935-70ECEC92CBD0}"/>
              </a:ext>
            </a:extLst>
          </p:cNvPr>
          <p:cNvSpPr/>
          <p:nvPr/>
        </p:nvSpPr>
        <p:spPr>
          <a:xfrm>
            <a:off x="1322696" y="1066800"/>
            <a:ext cx="1002512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Memory Enhancement Module (MEM): Refines features to improve classification of similar waste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Classification: Fully connected layers and </a:t>
            </a:r>
            <a:r>
              <a:rPr lang="en-US" sz="2400" dirty="0" err="1"/>
              <a:t>softmax</a:t>
            </a:r>
            <a:r>
              <a:rPr lang="en-US" sz="2400" dirty="0"/>
              <a:t> function predict waste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Evaluation: Accuracy, precision, recall, and F1-score used to measure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Dataset Preparation Collected 15,000+ labeled images from </a:t>
            </a:r>
            <a:r>
              <a:rPr lang="en-US" sz="2400" dirty="0" err="1"/>
              <a:t>TrashNet</a:t>
            </a:r>
            <a:r>
              <a:rPr lang="en-US" sz="2400" dirty="0"/>
              <a:t>, </a:t>
            </a:r>
            <a:r>
              <a:rPr lang="en-US" sz="2400" dirty="0" err="1"/>
              <a:t>Kaggle</a:t>
            </a:r>
            <a:r>
              <a:rPr lang="en-US" sz="2400" dirty="0"/>
              <a:t> Garbage Classification, and </a:t>
            </a:r>
            <a:r>
              <a:rPr lang="en-US" sz="2400" dirty="0" err="1"/>
              <a:t>PublicGarbageNet</a:t>
            </a:r>
            <a:r>
              <a:rPr lang="en-US" sz="2400" dirty="0"/>
              <a:t> across 14 waste categories; images resized to 224×224 pixels and augmented to handle class imbalance.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Feature Extraction &amp; Model Used </a:t>
            </a:r>
            <a:r>
              <a:rPr lang="en-US" sz="2400" dirty="0" err="1"/>
              <a:t>RepVGG</a:t>
            </a:r>
            <a:r>
              <a:rPr lang="en-US" sz="2400" dirty="0"/>
              <a:t> backbone with Memory Enhancement Module (MEM) to extract and refine features for accurate waste classification.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78548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29400" y="6451049"/>
            <a:ext cx="16002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9834245" cy="457304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r>
              <a:rPr lang="en-IN" sz="2400" b="1" dirty="0" err="1"/>
              <a:t>RepVGG</a:t>
            </a:r>
            <a:r>
              <a:rPr lang="en-IN" sz="2400" b="1" dirty="0"/>
              <a:t>-MEM Architecture</a:t>
            </a:r>
          </a:p>
          <a:p>
            <a:r>
              <a:rPr lang="en-IN" sz="2400" b="1" dirty="0"/>
              <a:t>Core Components:</a:t>
            </a:r>
            <a:endParaRPr lang="en-IN" sz="2400" dirty="0"/>
          </a:p>
          <a:p>
            <a:r>
              <a:rPr lang="en-IN" sz="2400" b="1" dirty="0" err="1"/>
              <a:t>RepVGG</a:t>
            </a:r>
            <a:r>
              <a:rPr lang="en-IN" sz="2400" b="1" dirty="0"/>
              <a:t> Backbone</a:t>
            </a:r>
            <a:r>
              <a:rPr lang="en-IN" sz="2400" dirty="0"/>
              <a:t> • Multi-branch training (3×3 + 1×1 conv + identity) </a:t>
            </a:r>
          </a:p>
          <a:p>
            <a:r>
              <a:rPr lang="en-IN" sz="2400" dirty="0"/>
              <a:t>• Structural reparameterization to single 3×3 conv at inference</a:t>
            </a:r>
          </a:p>
          <a:p>
            <a:r>
              <a:rPr lang="en-IN" sz="2400" b="1" dirty="0"/>
              <a:t>MSCA </a:t>
            </a:r>
            <a:r>
              <a:rPr lang="en-IN" sz="2400" dirty="0"/>
              <a:t> • Multi-Scale Channel Attention after Stage 3</a:t>
            </a:r>
          </a:p>
          <a:p>
            <a:r>
              <a:rPr lang="en-IN" sz="2400" dirty="0"/>
              <a:t>• Global Average Pooling → Bottleneck (1/16) → Sigmoid activation</a:t>
            </a:r>
          </a:p>
          <a:p>
            <a:r>
              <a:rPr lang="en-IN" sz="2400" b="1" dirty="0"/>
              <a:t>EMA Training</a:t>
            </a:r>
            <a:r>
              <a:rPr lang="en-IN" sz="2400" dirty="0"/>
              <a:t> • Exponential Moving Average with decay=0.999 </a:t>
            </a:r>
          </a:p>
          <a:p>
            <a:r>
              <a:rPr lang="en-IN" sz="2400" dirty="0"/>
              <a:t>• Stabilizes parameters during and after pruning</a:t>
            </a:r>
          </a:p>
          <a:p>
            <a:r>
              <a:rPr lang="en-IN" sz="2400" b="1" dirty="0"/>
              <a:t>Structured Pruning</a:t>
            </a:r>
            <a:r>
              <a:rPr lang="en-IN" sz="2400" dirty="0"/>
              <a:t> • L1-norm magnitude-based filter elimination </a:t>
            </a:r>
          </a:p>
          <a:p>
            <a:r>
              <a:rPr lang="en-IN" sz="2400" dirty="0"/>
              <a:t>• Removes bottom a% filters → Fine-tune 15 epochs • Reduces to 0.55G FLOPs</a:t>
            </a:r>
          </a:p>
          <a:p>
            <a:pPr marL="241300" marR="5080" indent="-229235">
              <a:lnSpc>
                <a:spcPts val="3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endParaRPr sz="2750" b="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99B9CD6-101F-F177-9741-BAEA54767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76AA703A-6596-F2E2-1FB4-64E587D6F1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609600" y="849240"/>
            <a:ext cx="11573715" cy="819454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lang="en-US" sz="3600" spc="-45" dirty="0"/>
              <a:t>ACCURACY COMPARISON OF MODELS</a:t>
            </a:r>
            <a:endParaRPr sz="3600" spc="-45" dirty="0"/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29D6776D-3D7B-8E13-6925-293F9C2CDA1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52D666E5-9924-EEFB-ED43-8C63FF43AABE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602E990A-B4C9-6BFD-0EB8-E54FA0EE429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C50A13E0-AE0E-05FF-C60D-96F35874C691}"/>
              </a:ext>
            </a:extLst>
          </p:cNvPr>
          <p:cNvSpPr txBox="1"/>
          <p:nvPr/>
        </p:nvSpPr>
        <p:spPr>
          <a:xfrm>
            <a:off x="6629400" y="6451049"/>
            <a:ext cx="16002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895DACBB-E637-3A79-B2CD-677FCC13E5D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72AE5F42-123F-3253-2234-D965E308258B}"/>
              </a:ext>
            </a:extLst>
          </p:cNvPr>
          <p:cNvSpPr txBox="1"/>
          <p:nvPr/>
        </p:nvSpPr>
        <p:spPr>
          <a:xfrm>
            <a:off x="917575" y="1813305"/>
            <a:ext cx="9834245" cy="44627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endParaRPr sz="2750" b="1" dirty="0">
              <a:latin typeface="Times New Roman"/>
              <a:cs typeface="Times New Roman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="" xmlns:a16="http://schemas.microsoft.com/office/drawing/2014/main" id="{140EFB90-4857-DD30-A052-5513E7308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766906"/>
              </p:ext>
            </p:extLst>
          </p:nvPr>
        </p:nvGraphicFramePr>
        <p:xfrm>
          <a:off x="2177097" y="1923918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92279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060" y="477772"/>
            <a:ext cx="10460735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29400" y="6451049"/>
            <a:ext cx="12192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E37E808-4B82-7CF9-002A-87B3D60F8E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57148" y="1752600"/>
            <a:ext cx="6096000" cy="394955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16ED88F-C6A5-C168-262C-60DD2B589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A1AEDFDA-E3F3-0CFF-76AD-E6D6C00EE8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lang="en-US" spc="-10" dirty="0"/>
              <a:t>         OUTPUT</a:t>
            </a:r>
            <a:endParaRPr spc="-25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="" xmlns:a16="http://schemas.microsoft.com/office/drawing/2014/main" id="{C7964FA1-4B7D-0867-10B4-E802112E4D82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577340"/>
            <a:ext cx="4386326" cy="390842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="" xmlns:a16="http://schemas.microsoft.com/office/drawing/2014/main" id="{AAB4CB4B-2749-378E-E4C3-621ED7A98F3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6E027B72-DF5D-2343-4A99-4EF1EDE524D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4DCD11A5-7E35-B833-82B6-7CB7BF842D3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4C4670CE-AD38-711A-20F7-A94CA18E3232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15E02CF7-EC13-49DC-12B2-9ADB97C98180}"/>
              </a:ext>
            </a:extLst>
          </p:cNvPr>
          <p:cNvSpPr txBox="1"/>
          <p:nvPr/>
        </p:nvSpPr>
        <p:spPr>
          <a:xfrm>
            <a:off x="6629400" y="6451049"/>
            <a:ext cx="12192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19" name="Content Placeholder 18">
            <a:extLst>
              <a:ext uri="{FF2B5EF4-FFF2-40B4-BE49-F238E27FC236}">
                <a16:creationId xmlns="" xmlns:a16="http://schemas.microsoft.com/office/drawing/2014/main" id="{10501011-0603-062D-717C-A1BEEF3061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63" y="1577975"/>
            <a:ext cx="3914353" cy="3908425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="" xmlns:a16="http://schemas.microsoft.com/office/drawing/2014/main" id="{A4BCA041-EDF3-5C1B-A98C-67B243E73D01}"/>
              </a:ext>
            </a:extLst>
          </p:cNvPr>
          <p:cNvSpPr/>
          <p:nvPr/>
        </p:nvSpPr>
        <p:spPr>
          <a:xfrm>
            <a:off x="5606795" y="324031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49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ED62E40-7C84-E2A6-645D-F3D8A86D1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AAEFEC58-B536-A650-A660-3F69D8AC98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468" y="865879"/>
            <a:ext cx="10275063" cy="5682324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r>
              <a:rPr lang="en-US" sz="2800" dirty="0"/>
              <a:t>Key Observations:</a:t>
            </a:r>
            <a:r>
              <a:rPr lang="en-US" sz="2800" b="0" dirty="0"/>
              <a:t/>
            </a:r>
            <a:br>
              <a:rPr lang="en-US" sz="2800" b="0" dirty="0"/>
            </a:br>
            <a:r>
              <a:rPr lang="en-US" sz="2800" dirty="0"/>
              <a:t>High Performance: </a:t>
            </a:r>
            <a:r>
              <a:rPr lang="en-US" sz="2800" b="0" dirty="0"/>
              <a:t/>
            </a:r>
            <a:br>
              <a:rPr lang="en-US" sz="2800" b="0" dirty="0"/>
            </a:br>
            <a:r>
              <a:rPr lang="en-US" sz="2800" b="0" dirty="0"/>
              <a:t>Clothing (4,129 correct), Paper, Shoes, White Glass</a:t>
            </a:r>
            <a:br>
              <a:rPr lang="en-US" sz="2800" b="0" dirty="0"/>
            </a:br>
            <a:r>
              <a:rPr lang="en-US" sz="2800" b="0" dirty="0"/>
              <a:t>Strong feature learning for recyclable and non-recyclable materials</a:t>
            </a:r>
            <a:br>
              <a:rPr lang="en-US" sz="2800" b="0" dirty="0"/>
            </a:br>
            <a:r>
              <a:rPr lang="en-US" sz="2800" b="0" dirty="0"/>
              <a:t>Minor misclassifications between visually similar categories</a:t>
            </a:r>
            <a:br>
              <a:rPr lang="en-US" sz="2800" b="0" dirty="0"/>
            </a:br>
            <a:r>
              <a:rPr lang="en-US" sz="2800" b="0" dirty="0"/>
              <a:t>Dataset imbalance evident: Clothing (20.4%), Glass (18.4%) vs Plastic/Battery (&lt;6%)</a:t>
            </a:r>
            <a:br>
              <a:rPr lang="en-US" sz="2800" b="0" dirty="0"/>
            </a:br>
            <a:r>
              <a:rPr lang="en-US" sz="2800" dirty="0"/>
              <a:t>Model Capability:</a:t>
            </a:r>
            <a:r>
              <a:rPr lang="en-US" sz="2800" b="0" dirty="0"/>
              <a:t/>
            </a:r>
            <a:br>
              <a:rPr lang="en-US" sz="2800" b="0" dirty="0"/>
            </a:br>
            <a:r>
              <a:rPr lang="en-US" sz="2800" b="0" dirty="0"/>
              <a:t>Successfully learns distinctive features across 14 diverse waste categories</a:t>
            </a:r>
            <a:br>
              <a:rPr lang="en-US" sz="2800" b="0" dirty="0"/>
            </a:br>
            <a:r>
              <a:rPr lang="en-US" sz="2800" b="0" dirty="0"/>
              <a:t>Robust classification for both recyclable and non-recyclable materials</a:t>
            </a:r>
            <a:r>
              <a:rPr lang="en-US" dirty="0"/>
              <a:t/>
            </a:r>
            <a:br>
              <a:rPr lang="en-US" dirty="0"/>
            </a:b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8A17EF74-48C5-E64D-6911-D6F9CC40B76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8FE64C13-A429-5783-50DA-D672C3D05FBF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7CCC3FA8-DEE5-168A-A9C6-539A40CA264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99913B52-9B70-CE22-8A7A-434D3C316981}"/>
              </a:ext>
            </a:extLst>
          </p:cNvPr>
          <p:cNvSpPr txBox="1"/>
          <p:nvPr/>
        </p:nvSpPr>
        <p:spPr>
          <a:xfrm>
            <a:off x="6629400" y="6451049"/>
            <a:ext cx="12192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A911ED0E-9954-F5DA-5E2C-9DC8D740A35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370105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lang="en-US" dirty="0"/>
              <a:t>                  </a:t>
            </a:r>
            <a:r>
              <a:rPr dirty="0"/>
              <a:t>CONCLUSION</a:t>
            </a:r>
            <a:r>
              <a:rPr spc="-140" dirty="0"/>
              <a:t> 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sz="half" idx="4294967295"/>
          </p:nvPr>
        </p:nvSpPr>
        <p:spPr>
          <a:xfrm>
            <a:off x="576405" y="1226028"/>
            <a:ext cx="11146535" cy="530401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Developed </a:t>
            </a:r>
            <a:r>
              <a:rPr lang="en-US" sz="2800" dirty="0" err="1"/>
              <a:t>RepVGG</a:t>
            </a:r>
            <a:r>
              <a:rPr lang="en-US" sz="2800" dirty="0"/>
              <a:t>-MEM: lightweight framework for real-time waste classification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Achieved 95.06% accuracy and 94.5% F1-score with 0.55G FLOPs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Unified integration of EMA, </a:t>
            </a:r>
            <a:r>
              <a:rPr lang="en-US" sz="2800" dirty="0" err="1"/>
              <a:t>Mixup</a:t>
            </a:r>
            <a:r>
              <a:rPr lang="en-US" sz="2800" dirty="0"/>
              <a:t>, MSCA, and structured pruning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+1.74% improvement over baseline with reduced computational cost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Edge-ready deployment on smart bins and mobile platforms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it combines structured pruning and Exponential Moving Average (EMA) to enhance speed, stability, and accuracy.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The lightweight architecture enables deployment on edge devices, smart bins, and mobile applications.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CD1F3B7-7800-57F7-2E11-005ABBBE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412E266F-029D-6229-3DE9-60368C0C2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lang="en-US" dirty="0"/>
              <a:t>                  LIMITATIONS</a:t>
            </a:r>
            <a:endParaRPr spc="-10" dirty="0"/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886E19A6-D58A-7F46-3204-608929DDC86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A3114F94-6126-5895-F709-EDDC53CE948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ED95F532-13E3-BC92-CDCD-913061BFE73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4CDCE791-0341-E599-B740-8D64544D29A9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BBB61055-E283-BEC4-9040-F881A04E6885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="" xmlns:a16="http://schemas.microsoft.com/office/drawing/2014/main" id="{A3A5C9BA-5183-0BE2-3261-BF9DC785D951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 bwMode="auto">
          <a:xfrm>
            <a:off x="619616" y="1369999"/>
            <a:ext cx="1106011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imbalance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affects performance on under-represented waste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Reliance on open-source datasets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may not fully capture real-world conditions such as poor lighting, occlusion, or mixed waste.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 class structure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requires retraining when new waste categories are introduced.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still computationally intensive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despite the model being lightweight during inference.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scenarios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overlapping, damaged, or dirty waste objects are not explicitly addressed.</a:t>
            </a:r>
          </a:p>
        </p:txBody>
      </p:sp>
    </p:spTree>
    <p:extLst>
      <p:ext uri="{BB962C8B-B14F-4D97-AF65-F5344CB8AC3E}">
        <p14:creationId xmlns:p14="http://schemas.microsoft.com/office/powerpoint/2010/main" val="12532069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lang="en-US" dirty="0"/>
              <a:t>              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="" xmlns:a16="http://schemas.microsoft.com/office/drawing/2014/main" id="{85842B21-F3A8-47D3-B491-2F9642D57DB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85800" y="1455754"/>
            <a:ext cx="11506200" cy="5409173"/>
          </a:xfrm>
        </p:spPr>
        <p:txBody>
          <a:bodyPr/>
          <a:lstStyle/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Expand dataset to cover more waste categories and real-world conditions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Handle overlapping, damaged items, and dust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Optimize for ultra-low-powered </a:t>
            </a:r>
            <a:r>
              <a:rPr lang="en-US" sz="2800" dirty="0" err="1"/>
              <a:t>IoT</a:t>
            </a:r>
            <a:r>
              <a:rPr lang="en-US" sz="2800" dirty="0"/>
              <a:t> devices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Integrate real-time monitoring with sensor fusion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Hybrid approaches: computer vision + spectroscopy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Adaptive learning for new categories without full retraining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The model can be integrated with </a:t>
            </a:r>
            <a:r>
              <a:rPr lang="en-US" sz="2800" dirty="0" err="1"/>
              <a:t>IoT</a:t>
            </a:r>
            <a:r>
              <a:rPr lang="en-US" sz="2800" dirty="0"/>
              <a:t>-based smart bins for automatic waste detection and separation.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Can be extended to real-time video classification for monitoring waste in streets or public areas.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endParaRPr lang="en-IN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09763" y="6451049"/>
            <a:ext cx="135300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2548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29399" y="6451049"/>
            <a:ext cx="133337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47136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F355BBA-E18A-3E7A-E7BD-7728F07FCDF5}"/>
              </a:ext>
            </a:extLst>
          </p:cNvPr>
          <p:cNvSpPr txBox="1"/>
          <p:nvPr/>
        </p:nvSpPr>
        <p:spPr>
          <a:xfrm>
            <a:off x="761999" y="1287244"/>
            <a:ext cx="106680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[1] K. </a:t>
            </a:r>
            <a:r>
              <a:rPr lang="en-IN" sz="2000" dirty="0" err="1"/>
              <a:t>Lakshminadh</a:t>
            </a:r>
            <a:r>
              <a:rPr lang="en-IN" sz="2000" dirty="0"/>
              <a:t> et al., "Pest identification: An efficient deep learning approach using </a:t>
            </a:r>
            <a:r>
              <a:rPr lang="en-IN" sz="2000" dirty="0" err="1"/>
              <a:t>vgg</a:t>
            </a:r>
            <a:r>
              <a:rPr lang="en-IN" sz="2000" dirty="0"/>
              <a:t> networks," in IEEE International Conference on Interdisciplinary Approaches in Technology and Management for Social Innovation (IATMSI), 2025, pp. 1–6.</a:t>
            </a:r>
          </a:p>
          <a:p>
            <a:pPr algn="just"/>
            <a:r>
              <a:rPr lang="en-IN" sz="2000" dirty="0"/>
              <a:t>[2] K. V. N. Reddy, Y. Narendra, M. A. N. Reddy, A. Ramu, D. V. Reddy, and S. Moturi, "Traffic sign recognition using </a:t>
            </a:r>
            <a:r>
              <a:rPr lang="en-IN" sz="2000" dirty="0" err="1"/>
              <a:t>cnn</a:t>
            </a:r>
            <a:r>
              <a:rPr lang="en-IN" sz="2000" dirty="0"/>
              <a:t> deep learning," in IEEE International Conference on Interdisciplinary Approaches in Technology and Management for Social Innovation (IATMSI), 2025, pp. 1–6.</a:t>
            </a:r>
          </a:p>
          <a:p>
            <a:pPr algn="just"/>
            <a:r>
              <a:rPr lang="en-IN" sz="2000" dirty="0"/>
              <a:t>[3] S. L. </a:t>
            </a:r>
            <a:r>
              <a:rPr lang="en-IN" sz="2000" dirty="0" err="1"/>
              <a:t>Jagannadham</a:t>
            </a:r>
            <a:r>
              <a:rPr lang="en-IN" sz="2000" dirty="0"/>
              <a:t>, K. L. </a:t>
            </a:r>
            <a:r>
              <a:rPr lang="en-IN" sz="2000" dirty="0" err="1"/>
              <a:t>Nadh</a:t>
            </a:r>
            <a:r>
              <a:rPr lang="en-IN" sz="2000" dirty="0"/>
              <a:t>, and M. Sireesha, "Brain tumour detection using </a:t>
            </a:r>
            <a:r>
              <a:rPr lang="en-IN" sz="2000" dirty="0" err="1"/>
              <a:t>cnn</a:t>
            </a:r>
            <a:r>
              <a:rPr lang="en-IN" sz="2000" dirty="0"/>
              <a:t>," in 5th International Conference on I-SMAC (IoT in Social, Mobile, Analytics and Cloud), 2021, pp. 734–739.</a:t>
            </a:r>
          </a:p>
          <a:p>
            <a:pPr algn="just"/>
            <a:r>
              <a:rPr lang="en-IN" sz="2000" dirty="0"/>
              <a:t>[4] Q. Si and S. Ik Han, "</a:t>
            </a:r>
            <a:r>
              <a:rPr lang="en-IN" sz="2000" dirty="0" err="1"/>
              <a:t>Repvgg</a:t>
            </a:r>
            <a:r>
              <a:rPr lang="en-IN" sz="2000" dirty="0"/>
              <a:t>-mem: A lightweight model for garbage classification achieving a balance between accuracy and speed," IEEE Access, vol. 13, pp. 36 451–36 469, 2025.</a:t>
            </a:r>
          </a:p>
          <a:p>
            <a:pPr algn="just"/>
            <a:r>
              <a:rPr lang="en-IN" sz="2000" dirty="0"/>
              <a:t>[5] M. M. Hossen, M. E. Majid, S. B. A. Kashem, A. Khandakar, M. </a:t>
            </a:r>
            <a:r>
              <a:rPr lang="en-IN" sz="2000" dirty="0" err="1"/>
              <a:t>Nashbat</a:t>
            </a:r>
            <a:r>
              <a:rPr lang="en-IN" sz="2000" dirty="0"/>
              <a:t>, A. Ashraf, M. Hasan-Zia, A. K. A. Kunju, S. Kabir, and M. E. H. Chowdhury, "A reliable and robust deep learning model for effective recyclable waste classification," IEEE Access, vol. 12, pp. 13 809–13 821, 2024.</a:t>
            </a:r>
          </a:p>
          <a:p>
            <a:pPr algn="just"/>
            <a:r>
              <a:rPr lang="en-IN" sz="1600" dirty="0"/>
              <a:t>.	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5600" y="6451049"/>
            <a:ext cx="12571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47136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F355BBA-E18A-3E7A-E7BD-7728F07FCDF5}"/>
              </a:ext>
            </a:extLst>
          </p:cNvPr>
          <p:cNvSpPr txBox="1"/>
          <p:nvPr/>
        </p:nvSpPr>
        <p:spPr>
          <a:xfrm>
            <a:off x="685800" y="1143000"/>
            <a:ext cx="10820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[6] H. M. Tran, T. M. Le, H. V. Pham et al., "An integrated learning approach for municipal waste classification using densenet161 and </a:t>
            </a:r>
            <a:r>
              <a:rPr lang="en-IN" sz="2000" dirty="0" err="1"/>
              <a:t>hho</a:t>
            </a:r>
            <a:r>
              <a:rPr lang="en-IN" sz="2000" dirty="0"/>
              <a:t>," IEEE Access, 2024. [Online]. Available: </a:t>
            </a:r>
            <a:r>
              <a:rPr lang="en-IN" sz="2000" dirty="0">
                <a:hlinkClick r:id="rId2"/>
              </a:rPr>
              <a:t>https://doi.org/10.1109/ACCESS.2024.3495982</a:t>
            </a:r>
            <a:endParaRPr lang="en-IN" sz="2000" dirty="0"/>
          </a:p>
          <a:p>
            <a:pPr algn="just"/>
            <a:r>
              <a:rPr lang="en-IN" sz="2000" dirty="0"/>
              <a:t>[7] J. R. Lapo and O. M. </a:t>
            </a:r>
            <a:r>
              <a:rPr lang="en-IN" sz="2000" dirty="0" err="1"/>
              <a:t>Cumbicus</a:t>
            </a:r>
            <a:r>
              <a:rPr lang="en-IN" sz="2000" dirty="0"/>
              <a:t>-Pineda, "Detection of recyclable solid waste using convolutional neural networks and </a:t>
            </a:r>
            <a:r>
              <a:rPr lang="en-IN" sz="2000" dirty="0" err="1"/>
              <a:t>pytorch</a:t>
            </a:r>
            <a:r>
              <a:rPr lang="en-IN" sz="2000" dirty="0"/>
              <a:t>," IEEE Latin America Transactions, vol. 22, no. 6, pp. 475–483, 2024[8] M. H. Dipo, F. A. Farid, M. S. A. Mahmud, M. Momtaz, S. Rahman, J. Uddin, and H. A. Karim, "Real-time waste detection and classification using yolov12-based deep learning model," Digital, vol. 5, no. 2, p. 19, 2025.</a:t>
            </a:r>
          </a:p>
          <a:p>
            <a:pPr algn="just"/>
            <a:r>
              <a:rPr lang="en-IN" sz="2000" dirty="0"/>
              <a:t>[9] G. I. Sayed, M. Abd </a:t>
            </a:r>
            <a:r>
              <a:rPr lang="en-IN" sz="2000" dirty="0" err="1"/>
              <a:t>Elfattah</a:t>
            </a:r>
            <a:r>
              <a:rPr lang="en-IN" sz="2000" dirty="0"/>
              <a:t>, A.-B. Darwish et al., "Intelligent and sustainable waste classification model based on multi-objective beluga whale optimization and deep learning," Environmental Science and Pollution Research, vol. 31, pp. 31 492–31 510, 2024. [Online]. Available: </a:t>
            </a:r>
            <a:r>
              <a:rPr lang="en-IN" sz="2000" dirty="0">
                <a:hlinkClick r:id="rId3"/>
              </a:rPr>
              <a:t>https://doi.org/10.1007/s11356-024-33233-w</a:t>
            </a:r>
            <a:endParaRPr lang="en-IN" sz="2000" dirty="0"/>
          </a:p>
          <a:p>
            <a:pPr algn="just"/>
            <a:r>
              <a:rPr lang="en-IN" sz="2000" dirty="0"/>
              <a:t>[10] M. Chhabra, B. Sharan, M. </a:t>
            </a:r>
            <a:r>
              <a:rPr lang="en-IN" sz="2000" dirty="0" err="1"/>
              <a:t>Elbarachi</a:t>
            </a:r>
            <a:r>
              <a:rPr lang="en-IN" sz="2000" dirty="0"/>
              <a:t>, and M. Kumar, "Intelligent waste classification approach based on improved multi-layered convolutional neural network," Multimedia Tools and Applications, vol. 31, pp. 84 095–84 120, 2024. [Online]. Available: </a:t>
            </a:r>
            <a:r>
              <a:rPr lang="en-IN" sz="2000" dirty="0">
                <a:hlinkClick r:id="rId4"/>
              </a:rPr>
              <a:t>https://doi.org/10.1007/s11042-024-18939-w</a:t>
            </a:r>
            <a:endParaRPr lang="en-IN" sz="2000" dirty="0"/>
          </a:p>
          <a:p>
            <a:pPr algn="just"/>
            <a:r>
              <a:rPr lang="en-IN" sz="1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39579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3C25A39-AB50-0913-593E-3AA239604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="" xmlns:a16="http://schemas.microsoft.com/office/drawing/2014/main" id="{37944008-8908-AC83-AA4F-CE2899BB47C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B698AB1C-3226-A819-E187-C74DDD53801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F7078FD7-B738-1FCE-7E1D-37E1F95ADA7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40920011-7CBA-1085-387B-9B26DAFE108C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BCFABB2F-95CB-34D6-3A3A-8D0AAAD3FA86}"/>
              </a:ext>
            </a:extLst>
          </p:cNvPr>
          <p:cNvSpPr txBox="1"/>
          <p:nvPr/>
        </p:nvSpPr>
        <p:spPr>
          <a:xfrm>
            <a:off x="6705600" y="6451049"/>
            <a:ext cx="12571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D4C6FD58-53B0-2510-9820-5253D6A75112}"/>
              </a:ext>
            </a:extLst>
          </p:cNvPr>
          <p:cNvSpPr txBox="1"/>
          <p:nvPr/>
        </p:nvSpPr>
        <p:spPr>
          <a:xfrm>
            <a:off x="917575" y="1813305"/>
            <a:ext cx="47136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F7ADCCC-2D15-8104-D87F-4EC61AD86C54}"/>
              </a:ext>
            </a:extLst>
          </p:cNvPr>
          <p:cNvSpPr txBox="1"/>
          <p:nvPr/>
        </p:nvSpPr>
        <p:spPr>
          <a:xfrm>
            <a:off x="609600" y="1143000"/>
            <a:ext cx="108204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[11] S. Rafi, A. L. </a:t>
            </a:r>
            <a:r>
              <a:rPr lang="en-IN" sz="2000" dirty="0" err="1"/>
              <a:t>Niharika</a:t>
            </a:r>
            <a:r>
              <a:rPr lang="en-IN" sz="2000" dirty="0"/>
              <a:t>, S. </a:t>
            </a:r>
            <a:r>
              <a:rPr lang="en-IN" sz="2000" dirty="0" err="1"/>
              <a:t>Neelima</a:t>
            </a:r>
            <a:r>
              <a:rPr lang="en-IN" sz="2000" dirty="0"/>
              <a:t>, K. </a:t>
            </a:r>
            <a:r>
              <a:rPr lang="en-IN" sz="2000" dirty="0" err="1"/>
              <a:t>Nikhitha</a:t>
            </a:r>
            <a:r>
              <a:rPr lang="en-IN" sz="2000" dirty="0"/>
              <a:t>, M. S. Reddy, and M. </a:t>
            </a:r>
            <a:r>
              <a:rPr lang="en-IN" sz="2000" dirty="0" err="1"/>
              <a:t>Sireesha</a:t>
            </a:r>
            <a:r>
              <a:rPr lang="en-IN" sz="2000" dirty="0"/>
              <a:t>, "Detecting sarcasm across headlines and text," in 2025 IEEE International Conference on Interdisciplinary Approaches in Technology and Management for Social Innovation (IATMSI), vol. 3, 2025, pp. 1–6.</a:t>
            </a:r>
          </a:p>
          <a:p>
            <a:pPr algn="just"/>
            <a:r>
              <a:rPr lang="en-IN" sz="2000" dirty="0"/>
              <a:t>[12] S. </a:t>
            </a:r>
            <a:r>
              <a:rPr lang="en-IN" sz="2000" dirty="0" err="1"/>
              <a:t>Moturi</a:t>
            </a:r>
            <a:r>
              <a:rPr lang="en-IN" sz="2000" dirty="0"/>
              <a:t>, M. </a:t>
            </a:r>
            <a:r>
              <a:rPr lang="en-IN" sz="2000" dirty="0" err="1"/>
              <a:t>Ainavolu</a:t>
            </a:r>
            <a:r>
              <a:rPr lang="en-IN" sz="2000" dirty="0"/>
              <a:t>, N. R. </a:t>
            </a:r>
            <a:r>
              <a:rPr lang="en-IN" sz="2000" dirty="0" err="1"/>
              <a:t>Dokku</a:t>
            </a:r>
            <a:r>
              <a:rPr lang="en-IN" sz="2000" dirty="0"/>
              <a:t>, P. </a:t>
            </a:r>
            <a:r>
              <a:rPr lang="en-IN" sz="2000" dirty="0" err="1"/>
              <a:t>Kasula</a:t>
            </a:r>
            <a:r>
              <a:rPr lang="en-IN" sz="2000" dirty="0"/>
              <a:t>, N. </a:t>
            </a:r>
            <a:r>
              <a:rPr lang="en-IN" sz="2000" dirty="0" err="1"/>
              <a:t>Yaragani</a:t>
            </a:r>
            <a:r>
              <a:rPr lang="en-IN" sz="2000" dirty="0"/>
              <a:t>, and V. </a:t>
            </a:r>
            <a:r>
              <a:rPr lang="en-IN" sz="2000" dirty="0" err="1"/>
              <a:t>Dodda</a:t>
            </a:r>
            <a:r>
              <a:rPr lang="en-IN" sz="2000" dirty="0"/>
              <a:t>, "Enhanced lung cancer detection using deep learning ensemble approach," in 2024 First International Conference for Women in Computing (</a:t>
            </a:r>
            <a:r>
              <a:rPr lang="en-IN" sz="2000" dirty="0" err="1"/>
              <a:t>InCoWoCo</a:t>
            </a:r>
            <a:r>
              <a:rPr lang="en-IN" sz="2000" dirty="0"/>
              <a:t>), 2024, pp. 1–7.</a:t>
            </a:r>
          </a:p>
          <a:p>
            <a:pPr algn="just"/>
            <a:r>
              <a:rPr lang="en-IN" sz="2000" dirty="0"/>
              <a:t>[13] D. </a:t>
            </a:r>
            <a:r>
              <a:rPr lang="en-IN" sz="2000" dirty="0" err="1"/>
              <a:t>Venkatareddy</a:t>
            </a:r>
            <a:r>
              <a:rPr lang="en-IN" sz="2000" dirty="0"/>
              <a:t>, K. N. Reddy, Y. </a:t>
            </a:r>
            <a:r>
              <a:rPr lang="en-IN" sz="2000" dirty="0" err="1"/>
              <a:t>Sowmya</a:t>
            </a:r>
            <a:r>
              <a:rPr lang="en-IN" sz="2000" dirty="0"/>
              <a:t>, Y. </a:t>
            </a:r>
            <a:r>
              <a:rPr lang="en-IN" sz="2000" dirty="0" err="1"/>
              <a:t>Madhavi</a:t>
            </a:r>
            <a:r>
              <a:rPr lang="en-IN" sz="2000" dirty="0"/>
              <a:t>, S. C. </a:t>
            </a:r>
            <a:r>
              <a:rPr lang="en-IN" sz="2000" dirty="0" err="1"/>
              <a:t>Asmi</a:t>
            </a:r>
            <a:r>
              <a:rPr lang="en-IN" sz="2000" dirty="0"/>
              <a:t>, and S. </a:t>
            </a:r>
            <a:r>
              <a:rPr lang="en-IN" sz="2000" dirty="0" err="1"/>
              <a:t>Moturi</a:t>
            </a:r>
            <a:r>
              <a:rPr lang="en-IN" sz="2000" dirty="0"/>
              <a:t>, "Explainable </a:t>
            </a:r>
            <a:r>
              <a:rPr lang="en-IN" sz="2000" dirty="0" err="1"/>
              <a:t>fetal</a:t>
            </a:r>
            <a:r>
              <a:rPr lang="en-IN" sz="2000" dirty="0"/>
              <a:t> ultrasound classification with </a:t>
            </a:r>
            <a:r>
              <a:rPr lang="en-IN" sz="2000" dirty="0" err="1"/>
              <a:t>cnn</a:t>
            </a:r>
            <a:r>
              <a:rPr lang="en-IN" sz="2000" dirty="0"/>
              <a:t> and </a:t>
            </a:r>
            <a:r>
              <a:rPr lang="en-IN" sz="2000" dirty="0" err="1"/>
              <a:t>mlp</a:t>
            </a:r>
            <a:r>
              <a:rPr lang="en-IN" sz="2000" dirty="0"/>
              <a:t> models," in 2024 First International Conference on Innovations in Communications, Electrical and Computer Engineering (ICICEC), 2024, pp. 1–7.</a:t>
            </a:r>
          </a:p>
          <a:p>
            <a:pPr algn="just"/>
            <a:r>
              <a:rPr lang="en-IN" sz="2000" dirty="0"/>
              <a:t>[14] S. L. </a:t>
            </a:r>
            <a:r>
              <a:rPr lang="en-IN" sz="2000" dirty="0" err="1"/>
              <a:t>Jagannadham</a:t>
            </a:r>
            <a:r>
              <a:rPr lang="en-IN" sz="2000" dirty="0"/>
              <a:t>, K. L. </a:t>
            </a:r>
            <a:r>
              <a:rPr lang="en-IN" sz="2000" dirty="0" err="1"/>
              <a:t>Nadh</a:t>
            </a:r>
            <a:r>
              <a:rPr lang="en-IN" sz="2000" dirty="0"/>
              <a:t>, and M. </a:t>
            </a:r>
            <a:r>
              <a:rPr lang="en-IN" sz="2000" dirty="0" err="1"/>
              <a:t>Sireesha</a:t>
            </a:r>
            <a:r>
              <a:rPr lang="en-IN" sz="2000" dirty="0"/>
              <a:t>, "Brain tumour detection using </a:t>
            </a:r>
            <a:r>
              <a:rPr lang="en-IN" sz="2000" dirty="0" err="1"/>
              <a:t>cnn</a:t>
            </a:r>
            <a:r>
              <a:rPr lang="en-IN" sz="2000" dirty="0"/>
              <a:t>," in 2021 Fifth International Conference on I-SMAC (</a:t>
            </a:r>
            <a:r>
              <a:rPr lang="en-IN" sz="2000" dirty="0" err="1"/>
              <a:t>IoT</a:t>
            </a:r>
            <a:r>
              <a:rPr lang="en-IN" sz="2000" dirty="0"/>
              <a:t> in Social, Mobile, Analytics and Cloud) (I-SMAC), 2021, pp. 734–739.</a:t>
            </a:r>
          </a:p>
          <a:p>
            <a:pPr algn="just"/>
            <a:r>
              <a:rPr lang="en-IN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3564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05600" y="6451049"/>
            <a:ext cx="12571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1447117"/>
            <a:ext cx="10363200" cy="44486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Q1: What is the main reason for choosing the </a:t>
            </a:r>
            <a:r>
              <a:rPr lang="en-US" sz="240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RepVGG</a:t>
            </a:r>
            <a:r>
              <a:rPr 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-MEM model?</a:t>
            </a: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A: It is lightweight, fast, and suitable for real-time waste classification on edge devices.</a:t>
            </a:r>
          </a:p>
          <a:p>
            <a:r>
              <a:rPr 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Q2: Which datasets were used in your project?</a:t>
            </a: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A: </a:t>
            </a:r>
            <a:r>
              <a:rPr lang="en-US" sz="2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TrashNet</a:t>
            </a: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Kaggle Garbage Classification, and </a:t>
            </a:r>
            <a:r>
              <a:rPr lang="en-US" sz="2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PublicGarbageNet</a:t>
            </a: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(15,000+ images).</a:t>
            </a:r>
          </a:p>
          <a:p>
            <a:r>
              <a:rPr 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Q3: What preprocessing techniques were applied?</a:t>
            </a: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A: Resize &amp; Crop, Gaussian Blur, Grayscale, CLAHE, Normalization, RGB restoration, and Augmentations (Flip, Rotation).</a:t>
            </a:r>
          </a:p>
          <a:p>
            <a:r>
              <a:rPr 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Q4: How does MSCA (Multi-Scale Channel Attention) help?</a:t>
            </a: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A: It highlights important channels and improves feature extraction across multiple scales.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109D17A-1FC1-4FEB-AD14-6D9D5D05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="" xmlns:a16="http://schemas.microsoft.com/office/drawing/2014/main" id="{6F21BCE6-31B4-41A5-E358-40D1E44B05B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379A9FAA-EF00-24CF-5046-5E558C5D9844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365BA645-60A5-CAFB-56B2-3B83BEFBB97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FD1F4F0A-0DAE-22B6-0A26-0635A54BEE48}"/>
              </a:ext>
            </a:extLst>
          </p:cNvPr>
          <p:cNvSpPr txBox="1"/>
          <p:nvPr/>
        </p:nvSpPr>
        <p:spPr>
          <a:xfrm>
            <a:off x="6705600" y="6451049"/>
            <a:ext cx="12571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2C9B7981-AA7C-2AE8-01D4-7FB18183E09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FF45BEBD-3EBA-62E4-558E-DEBB10FD937E}"/>
              </a:ext>
            </a:extLst>
          </p:cNvPr>
          <p:cNvSpPr txBox="1"/>
          <p:nvPr/>
        </p:nvSpPr>
        <p:spPr>
          <a:xfrm>
            <a:off x="1066800" y="1481672"/>
            <a:ext cx="10363200" cy="38946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Q5: Why is pruning used in your model?</a:t>
            </a: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A: It reduces model complexity, improves speed, and makes deployment easier on low-powered devices.</a:t>
            </a:r>
          </a:p>
          <a:p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Q6: What limitations does your system currently have?</a:t>
            </a:r>
          </a:p>
          <a:p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A: Dataset imbalance, limited real-world conditions, and difficulty with overlapping waste items.</a:t>
            </a:r>
          </a:p>
          <a:p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Q7: What is the future scope of your project?</a:t>
            </a: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A: Expand dataset, improve real-time deployment, add new waste categories, and integrate sensor-based hybrid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2665025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28157" y="6451049"/>
            <a:ext cx="124201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676400"/>
            <a:ext cx="8759824" cy="481926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000" dirty="0"/>
              <a:t>• We express our sincere gratitude to </a:t>
            </a:r>
            <a:r>
              <a:rPr lang="en-US" sz="2000" b="1" dirty="0" err="1"/>
              <a:t>Narasaraopeta</a:t>
            </a:r>
            <a:r>
              <a:rPr lang="en-US" sz="2000" b="1" dirty="0"/>
              <a:t> Engineering College (Autonomous)</a:t>
            </a:r>
            <a:r>
              <a:rPr lang="en-US" sz="2000" dirty="0"/>
              <a:t> for providing the opportunity to present our project.</a:t>
            </a:r>
          </a:p>
          <a:p>
            <a:r>
              <a:rPr lang="en-US" sz="2000" dirty="0"/>
              <a:t>• We thank our </a:t>
            </a:r>
            <a:r>
              <a:rPr lang="en-US" sz="2000" b="1" dirty="0"/>
              <a:t>Project Guide, Dr. Sireesha Moturi</a:t>
            </a:r>
            <a:r>
              <a:rPr lang="en-US" sz="2000" dirty="0"/>
              <a:t>, for continuous guidance, support, and valuable feedback throughout the work.</a:t>
            </a:r>
          </a:p>
          <a:p>
            <a:r>
              <a:rPr lang="en-US" sz="2000" dirty="0"/>
              <a:t>• We acknowledge the </a:t>
            </a:r>
            <a:r>
              <a:rPr lang="en-US" sz="2000" b="1" dirty="0"/>
              <a:t>Department of Computer Science and Engineering</a:t>
            </a:r>
            <a:r>
              <a:rPr lang="en-US" sz="2000" dirty="0"/>
              <a:t> for academic support, resources, and encouragement.</a:t>
            </a:r>
          </a:p>
          <a:p>
            <a:r>
              <a:rPr lang="en-US" sz="2000" dirty="0"/>
              <a:t>• We appreciate the use of publicly available datasets and research contributions that supported the development of this work.</a:t>
            </a:r>
          </a:p>
          <a:p>
            <a:r>
              <a:rPr lang="en-US" sz="2000" dirty="0"/>
              <a:t>• For any further queries, the team can be contacted through the email IDs mentioned: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hlinkClick r:id="rId2"/>
              </a:rPr>
              <a:t>jaysri0345@gmail.com</a:t>
            </a:r>
            <a:endParaRPr lang="en-IN" sz="2000" dirty="0"/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hlinkClick r:id="rId3"/>
              </a:rPr>
              <a:t>ramyakondavarju@gmail.com</a:t>
            </a:r>
            <a:endParaRPr lang="en-IN" sz="2000" dirty="0"/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hlinkClick r:id="rId4"/>
              </a:rPr>
              <a:t>poojithach31@gmail.com</a:t>
            </a:r>
            <a:endParaRPr lang="en-IN" sz="2000" dirty="0"/>
          </a:p>
          <a:p>
            <a:endParaRPr lang="en-US" sz="2000" dirty="0"/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1A8D2C7-2DD7-0E5F-BA9B-98DD62000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="" xmlns:a16="http://schemas.microsoft.com/office/drawing/2014/main" id="{2E6D3196-3808-795E-B487-353CC3295F6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97EAE063-6D1F-6470-B86B-B27BB02F2200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F06B5252-644F-4FA9-5213-852A80C8EBC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IN" spc="-25" dirty="0"/>
              <a:t>:BG10</a:t>
            </a:r>
            <a:r>
              <a:rPr spc="-25" dirty="0"/>
              <a:t>.</a:t>
            </a:r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D3BBBD13-EC5C-C1E4-D28A-395EF442E7A6}"/>
              </a:ext>
            </a:extLst>
          </p:cNvPr>
          <p:cNvSpPr txBox="1"/>
          <p:nvPr/>
        </p:nvSpPr>
        <p:spPr>
          <a:xfrm>
            <a:off x="6705600" y="6451049"/>
            <a:ext cx="12571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1FA8C3AD-DBED-6DD3-589C-F822AFF03E5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11FAAEF0-4F10-BF98-C4EE-4F9FEDBA3FE2}"/>
              </a:ext>
            </a:extLst>
          </p:cNvPr>
          <p:cNvSpPr txBox="1"/>
          <p:nvPr/>
        </p:nvSpPr>
        <p:spPr>
          <a:xfrm>
            <a:off x="3124200" y="2743200"/>
            <a:ext cx="12047790" cy="94000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5471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</TotalTime>
  <Words>3633</Words>
  <Application>Microsoft Office PowerPoint</Application>
  <PresentationFormat>Custom</PresentationFormat>
  <Paragraphs>479</Paragraphs>
  <Slides>40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Department of Computer Science and Engineering WasteNet: A Structured-Pruned and EMA-Augmented RepVGG Framework for Real-Time Trash Classification</vt:lpstr>
      <vt:lpstr>OUTLINE</vt:lpstr>
      <vt:lpstr>ABSTRACT</vt:lpstr>
      <vt:lpstr>INTRODUCTION</vt:lpstr>
      <vt:lpstr>PowerPoint Presentation</vt:lpstr>
      <vt:lpstr>PowerPoint Presentation</vt:lpstr>
      <vt:lpstr>               CORE CONTRIBUTIONS</vt:lpstr>
      <vt:lpstr>PowerPoint Presentation</vt:lpstr>
      <vt:lpstr>LITERATURE SURVEY</vt:lpstr>
      <vt:lpstr>LITERATURE SURVEY</vt:lpstr>
      <vt:lpstr>LITERATURE SURVEY</vt:lpstr>
      <vt:lpstr>RESEARCH GAPS</vt:lpstr>
      <vt:lpstr>RESEARCH GAPS</vt:lpstr>
      <vt:lpstr>PROBLEM STATEMENT</vt:lpstr>
      <vt:lpstr>OBJECTIVES</vt:lpstr>
      <vt:lpstr>DATASET DESCRIPTION</vt:lpstr>
      <vt:lpstr>DATASET CATEGORY DISTRIBUTION</vt:lpstr>
      <vt:lpstr>   PRE - PROCESSING</vt:lpstr>
      <vt:lpstr>BLOCK DIAGRAM OR FLOW DIAGRAM</vt:lpstr>
      <vt:lpstr>PowerPoint Presentation</vt:lpstr>
      <vt:lpstr>PowerPoint Presentation</vt:lpstr>
      <vt:lpstr>METHODOLOGY</vt:lpstr>
      <vt:lpstr>PowerPoint Presentation</vt:lpstr>
      <vt:lpstr>PowerPoint Presentation</vt:lpstr>
      <vt:lpstr>PowerPoint Presentation</vt:lpstr>
      <vt:lpstr>IMPLEMENTATION</vt:lpstr>
      <vt:lpstr>ACCURACY COMPARISON OF MODELS</vt:lpstr>
      <vt:lpstr>RESULTS &amp; ANALYSIS</vt:lpstr>
      <vt:lpstr>         OUTPUT</vt:lpstr>
      <vt:lpstr>Key Observations: High Performance:  Clothing (4,129 correct), Paper, Shoes, White Glass Strong feature learning for recyclable and non-recyclable materials Minor misclassifications between visually similar categories Dataset imbalance evident: Clothing (20.4%), Glass (18.4%) vs Plastic/Battery (&lt;6%) Model Capability: Successfully learns distinctive features across 14 diverse waste categories Robust classification for both recyclable and non-recyclable materials </vt:lpstr>
      <vt:lpstr>                  CONCLUSION </vt:lpstr>
      <vt:lpstr>                  LIMITATIONS</vt:lpstr>
      <vt:lpstr>               FUTURE SCOPE</vt:lpstr>
      <vt:lpstr>REFERENCES</vt:lpstr>
      <vt:lpstr>PowerPoint Presentation</vt:lpstr>
      <vt:lpstr>PowerPoint Presentation</vt:lpstr>
      <vt:lpstr>QUESTIONS and ANSWERS</vt:lpstr>
      <vt:lpstr>PowerPoint Presentation</vt:lpstr>
      <vt:lpstr>ACKNOWLEGEMENTS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• Use Font size 22 to 28 and Font Style Times New Roman • Do not change the Template: Heading / Title of the slides • Do not change font style or colours • Do not copy paste paragraphs: use only Bullet Points • Maximum slide Limit is 30 only • Please display the required meaningful Content or images or tables  • Change the footer accordingly using insert tab then click on header &amp;  footer tab and edit it • Save the PPT with Batch No, ex: 21_CSE _A1</dc:title>
  <dc:creator>Administrator</dc:creator>
  <cp:lastModifiedBy>DELL</cp:lastModifiedBy>
  <cp:revision>22</cp:revision>
  <dcterms:created xsi:type="dcterms:W3CDTF">2025-11-10T11:11:11Z</dcterms:created>
  <dcterms:modified xsi:type="dcterms:W3CDTF">2026-02-10T08:34:02Z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2025-11-10T00:00:00Z</vt:filetime>
  </property>
</Properties>
</file>