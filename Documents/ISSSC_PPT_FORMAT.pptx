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i.org/10.1109/ACCESS.2024.3495982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042-024-18939-w" TargetMode="External"/><Relationship Id="rId2" Type="http://schemas.openxmlformats.org/officeDocument/2006/relationships/hyperlink" Target="https://doi.org/10.1007/s11356-024-33233-w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478171" y="5057953"/>
            <a:ext cx="110147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 : WasteNet: A Structured-Pruned and EMA-Augmented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RepVGG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Real-Time Trash Classification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ID:627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Name : Kakumanu Sravani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z="1600" dirty="0" err="1"/>
              <a:t>Yaragani</a:t>
            </a:r>
            <a:r>
              <a:rPr lang="en-IN" sz="1600" dirty="0"/>
              <a:t> Neelima, Kakumanu Sravani, Kondavarju Ramya, </a:t>
            </a:r>
            <a:r>
              <a:rPr lang="en-IN" sz="1600" dirty="0" err="1"/>
              <a:t>Chinthalanka</a:t>
            </a:r>
            <a:r>
              <a:rPr lang="en-IN" sz="1600" dirty="0"/>
              <a:t> Poojitha, Akila Venkatraman, </a:t>
            </a:r>
            <a:r>
              <a:rPr lang="en-IN" sz="1600" dirty="0" err="1"/>
              <a:t>Yerrarapu</a:t>
            </a:r>
            <a:r>
              <a:rPr lang="en-IN" sz="1600" dirty="0"/>
              <a:t> Sravani Devi, </a:t>
            </a:r>
            <a:r>
              <a:rPr lang="en-IN" sz="1600" dirty="0" err="1"/>
              <a:t>Dr.Sireesha</a:t>
            </a:r>
            <a:r>
              <a:rPr lang="en-IN" sz="1600" dirty="0"/>
              <a:t> Moturi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 : Student, Department of CSE,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625" y="502022"/>
            <a:ext cx="9625067" cy="1083498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4855-2422-AC96-3591-86B2582C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347" y="1828800"/>
            <a:ext cx="9717346" cy="4043967"/>
          </a:xfrm>
        </p:spPr>
        <p:txBody>
          <a:bodyPr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IN" sz="2000" b="1" dirty="0"/>
              <a:t>Problem Statement:</a:t>
            </a:r>
            <a:endParaRPr lang="en-IN" sz="2000" dirty="0"/>
          </a:p>
          <a:p>
            <a:r>
              <a:rPr lang="en-IN" sz="2000" dirty="0"/>
              <a:t>Urban MSW crisis demands intelligent automation—manual sorting is hazardous and inefficient</a:t>
            </a:r>
          </a:p>
          <a:p>
            <a:r>
              <a:rPr lang="en-IN" sz="2000" dirty="0"/>
              <a:t>Existing models lack optimal </a:t>
            </a:r>
            <a:r>
              <a:rPr lang="en-IN" sz="2000" b="1" dirty="0"/>
              <a:t>accuracy-speed-size balance</a:t>
            </a:r>
            <a:r>
              <a:rPr lang="en-IN" sz="2000" dirty="0"/>
              <a:t> for edge deployment</a:t>
            </a:r>
          </a:p>
          <a:p>
            <a:r>
              <a:rPr lang="en-IN" sz="2000" b="1" dirty="0"/>
              <a:t>Edge-ready deployment</a:t>
            </a:r>
            <a:r>
              <a:rPr lang="en-IN" sz="2000" dirty="0"/>
              <a:t> for smart bins and mobile waste management systems</a:t>
            </a:r>
          </a:p>
          <a:p>
            <a:r>
              <a:rPr lang="en-US" sz="2000" dirty="0"/>
              <a:t>Waste classification is crucial for sustainable environmental management and pollution control.</a:t>
            </a:r>
          </a:p>
          <a:p>
            <a:r>
              <a:rPr lang="en-US" sz="2000" dirty="0"/>
              <a:t>Improper segregation of waste can cause environmental harm, resource depletion, and increased greenhouse gas emissions.</a:t>
            </a:r>
          </a:p>
          <a:p>
            <a:r>
              <a:rPr lang="en-US" sz="2000" dirty="0"/>
              <a:t>Manual waste sorting is hazardous and inefficient, especially with the rising amount of global </a:t>
            </a:r>
            <a:r>
              <a:rPr lang="en-US" sz="2000" dirty="0" err="1"/>
              <a:t>waste�.There</a:t>
            </a:r>
            <a:r>
              <a:rPr lang="en-US" sz="2000" dirty="0"/>
              <a:t> is an urgent need for intelligent automated solutions to manage waste safely and efficiently.</a:t>
            </a:r>
          </a:p>
          <a:p>
            <a:r>
              <a:rPr lang="en-US" sz="2000" dirty="0"/>
              <a:t>Deep Learning, particularly Convolutional Neural Networks (CNNs) like </a:t>
            </a:r>
            <a:r>
              <a:rPr lang="en-US" sz="2000" dirty="0" err="1"/>
              <a:t>RepVGG</a:t>
            </a:r>
            <a:r>
              <a:rPr lang="en-US" sz="2000" dirty="0"/>
              <a:t>, enables advanced real-time waste classification and </a:t>
            </a:r>
            <a:r>
              <a:rPr lang="en-US" sz="2000" dirty="0" err="1"/>
              <a:t>automation�.The</a:t>
            </a:r>
            <a:r>
              <a:rPr lang="en-US" sz="2000" dirty="0"/>
              <a:t> </a:t>
            </a:r>
            <a:r>
              <a:rPr lang="en-US" sz="2000" dirty="0" err="1"/>
              <a:t>RepVGG</a:t>
            </a:r>
            <a:r>
              <a:rPr lang="en-US" sz="2000" dirty="0"/>
              <a:t>-MEM model combines advanced techniques such as EMA, </a:t>
            </a:r>
            <a:r>
              <a:rPr lang="en-US" sz="2000" dirty="0" err="1"/>
              <a:t>mixup</a:t>
            </a:r>
            <a:r>
              <a:rPr lang="en-US" sz="2000" dirty="0"/>
              <a:t> data augmentation, and structured pruning for improved accuracy and </a:t>
            </a:r>
            <a:r>
              <a:rPr lang="en-US" sz="2000" err="1"/>
              <a:t>efficiency</a:t>
            </a:r>
            <a:r>
              <a:rPr lang="en-US" sz="200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871" y="397808"/>
            <a:ext cx="9688296" cy="1016386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D229-4B71-397C-F958-74987BFA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344" y="1619075"/>
            <a:ext cx="10019350" cy="4387442"/>
          </a:xfrm>
        </p:spPr>
        <p:txBody>
          <a:bodyPr anchor="t">
            <a:normAutofit fontScale="70000" lnSpcReduction="20000"/>
          </a:bodyPr>
          <a:lstStyle/>
          <a:p>
            <a:r>
              <a:rPr lang="en-IN" sz="2500" dirty="0"/>
              <a:t>Improper waste segregation causes pollution, emissions, and resource depletion</a:t>
            </a:r>
          </a:p>
          <a:p>
            <a:r>
              <a:rPr lang="en-IN" sz="2500" dirty="0"/>
              <a:t>Manual sorting: hazardous, inefficient, unable to scale with urban waste growth</a:t>
            </a:r>
          </a:p>
          <a:p>
            <a:r>
              <a:rPr lang="en-IN" sz="2500" dirty="0"/>
              <a:t>Existing models too heavy for edge devices (smart bins, mobile platforms)</a:t>
            </a:r>
          </a:p>
          <a:p>
            <a:r>
              <a:rPr lang="en-IN" sz="2500" dirty="0"/>
              <a:t>Critical need: </a:t>
            </a:r>
            <a:r>
              <a:rPr lang="en-IN" sz="2500" b="1" dirty="0"/>
              <a:t>real-time, lightweight, accurate</a:t>
            </a:r>
            <a:r>
              <a:rPr lang="en-IN" sz="2500" dirty="0"/>
              <a:t> automated waste classification</a:t>
            </a:r>
          </a:p>
          <a:p>
            <a:pPr marL="0" indent="0">
              <a:buNone/>
            </a:pPr>
            <a:r>
              <a:rPr lang="en-IN" sz="3300" b="1" dirty="0"/>
              <a:t>Core Contributions:</a:t>
            </a:r>
            <a:endParaRPr lang="en-IN" sz="3300" dirty="0"/>
          </a:p>
          <a:p>
            <a:pPr marL="0" indent="0">
              <a:buNone/>
            </a:pPr>
            <a:r>
              <a:rPr lang="en-IN" sz="2500" b="1" dirty="0"/>
              <a:t>1. Unified </a:t>
            </a:r>
            <a:r>
              <a:rPr lang="en-IN" sz="2500" b="1" dirty="0" err="1"/>
              <a:t>RepVGG</a:t>
            </a:r>
            <a:r>
              <a:rPr lang="en-IN" sz="2500" b="1" dirty="0"/>
              <a:t>-MEM Framework</a:t>
            </a:r>
            <a:endParaRPr lang="en-IN" sz="2500" dirty="0"/>
          </a:p>
          <a:p>
            <a:r>
              <a:rPr lang="en-IN" sz="2500" dirty="0"/>
              <a:t>First holistic integration: </a:t>
            </a:r>
            <a:r>
              <a:rPr lang="en-IN" sz="2500" b="1" dirty="0"/>
              <a:t>EMA + </a:t>
            </a:r>
            <a:r>
              <a:rPr lang="en-IN" sz="2500" b="1" dirty="0" err="1"/>
              <a:t>Mixup</a:t>
            </a:r>
            <a:r>
              <a:rPr lang="en-IN" sz="2500" b="1" dirty="0"/>
              <a:t> + Structured Pruning + MSCA</a:t>
            </a:r>
            <a:r>
              <a:rPr lang="en-IN" sz="2500" dirty="0"/>
              <a:t> (prior works used independently)</a:t>
            </a:r>
          </a:p>
          <a:p>
            <a:pPr marL="0" indent="0">
              <a:buNone/>
            </a:pPr>
            <a:r>
              <a:rPr lang="en-IN" sz="2500" b="1" dirty="0"/>
              <a:t>2. Superior Performance</a:t>
            </a:r>
            <a:endParaRPr lang="en-IN" sz="2500" dirty="0"/>
          </a:p>
          <a:p>
            <a:r>
              <a:rPr lang="en-IN" sz="2500" b="1" dirty="0"/>
              <a:t>95.06% accuracy | 94.5% F1-score</a:t>
            </a:r>
            <a:r>
              <a:rPr lang="en-IN" sz="2500" dirty="0"/>
              <a:t> (14-class classification)</a:t>
            </a:r>
          </a:p>
          <a:p>
            <a:r>
              <a:rPr lang="en-IN" sz="2500" b="1" dirty="0"/>
              <a:t>+1.74% over baseline</a:t>
            </a:r>
            <a:r>
              <a:rPr lang="en-IN" sz="2500" dirty="0"/>
              <a:t> with </a:t>
            </a:r>
            <a:r>
              <a:rPr lang="en-IN" sz="2500" b="1" dirty="0"/>
              <a:t>0.55G FLOPs</a:t>
            </a:r>
            <a:r>
              <a:rPr lang="en-IN" sz="2500" dirty="0"/>
              <a:t> (lightweight design)</a:t>
            </a:r>
          </a:p>
          <a:p>
            <a:pPr marL="0" indent="0">
              <a:buNone/>
            </a:pPr>
            <a:r>
              <a:rPr lang="en-IN" sz="2500" b="1" dirty="0"/>
              <a:t>3. Edge Optimization</a:t>
            </a:r>
            <a:endParaRPr lang="en-IN" sz="2500" dirty="0"/>
          </a:p>
          <a:p>
            <a:r>
              <a:rPr lang="en-IN" sz="2500" dirty="0"/>
              <a:t>Outperforms ResNet50, MobileNetV3, VGG16, </a:t>
            </a:r>
            <a:r>
              <a:rPr lang="en-IN" sz="2500" dirty="0" err="1"/>
              <a:t>Xception</a:t>
            </a:r>
            <a:endParaRPr lang="en-IN" sz="2500" dirty="0"/>
          </a:p>
          <a:p>
            <a:r>
              <a:rPr lang="en-IN" sz="2500" dirty="0"/>
              <a:t>Handles closely resembling categories effectively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2021"/>
            <a:ext cx="9986493" cy="1377113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IN" sz="1800" dirty="0"/>
              <a:t>State-of-the-Art Waste Classification Models: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BFCC2D-F369-1024-BF8C-0B25F5687F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698018"/>
              </p:ext>
            </p:extLst>
          </p:nvPr>
        </p:nvGraphicFramePr>
        <p:xfrm>
          <a:off x="838200" y="2407492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679882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63403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93966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567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50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733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97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00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18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08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950402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DAC5B1-FF0E-1141-F0F9-EAFFC60F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57308"/>
              </p:ext>
            </p:extLst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687105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48083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749269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1125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Study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180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Sayed et al. [4]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RepVGG-MEM + MSCA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93.26%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generalization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912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Hossen et al. [5]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DenseNet201 + MobileNetV2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95.01%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6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 et al. [6]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Ensemble + HHO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97.45%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37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Lapo et al. [7]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RetinaNet + ResNet-50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edge-friendly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61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Dipo et al. [8]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78% 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44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Sayed et al. [9]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InceptionV3 + MBWO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97.75%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4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Chhabra et al. [10]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Multi-layer 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93.28%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Basic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80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17" y="260060"/>
            <a:ext cx="10304577" cy="872454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A930-5FD7-9109-8AD9-8DB42149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52" y="1342239"/>
            <a:ext cx="10178741" cy="453052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Dataset &amp; Preprocessing:</a:t>
            </a:r>
            <a:endParaRPr lang="en-IN" sz="2000" dirty="0"/>
          </a:p>
          <a:p>
            <a:r>
              <a:rPr lang="en-IN" sz="1800" dirty="0"/>
              <a:t>15,000+ images from </a:t>
            </a:r>
            <a:r>
              <a:rPr lang="en-IN" sz="1800" dirty="0" err="1"/>
              <a:t>TrashNet</a:t>
            </a:r>
            <a:r>
              <a:rPr lang="en-IN" sz="1800" dirty="0"/>
              <a:t>, Kaggle, </a:t>
            </a:r>
            <a:r>
              <a:rPr lang="en-IN" sz="1800" dirty="0" err="1"/>
              <a:t>PublicGarbageNet</a:t>
            </a:r>
            <a:r>
              <a:rPr lang="en-IN" sz="1800" dirty="0"/>
              <a:t> (14 classes)</a:t>
            </a:r>
          </a:p>
          <a:p>
            <a:r>
              <a:rPr lang="en-IN" sz="1800" dirty="0"/>
              <a:t>Pipeline: Resize 224×224 → Gaussian Blur → CLAHE → Normalization → Augmentation (Flip, Rotation ±15°, </a:t>
            </a:r>
            <a:r>
              <a:rPr lang="en-IN" sz="1800" dirty="0" err="1"/>
              <a:t>Mixup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2000" b="1" dirty="0" err="1"/>
              <a:t>RepVGG</a:t>
            </a:r>
            <a:r>
              <a:rPr lang="en-IN" sz="2000" b="1" dirty="0"/>
              <a:t>-MEM Architecture:</a:t>
            </a:r>
          </a:p>
          <a:p>
            <a:r>
              <a:rPr lang="en-IN" sz="1800" b="1" dirty="0"/>
              <a:t>Stage 1: Multi-Branch Feature Extraction</a:t>
            </a:r>
            <a:endParaRPr lang="en-IN" sz="1800" dirty="0"/>
          </a:p>
          <a:p>
            <a:r>
              <a:rPr lang="en-IN" sz="1800" b="1" dirty="0"/>
              <a:t>Stage 2: MSCA Attention (After Stage 3)</a:t>
            </a:r>
            <a:endParaRPr lang="en-IN" sz="1800" dirty="0"/>
          </a:p>
          <a:p>
            <a:r>
              <a:rPr lang="en-IN" sz="1800" b="1" dirty="0"/>
              <a:t>Stage 3: EMA Stabilization</a:t>
            </a:r>
            <a:endParaRPr lang="en-IN" sz="1800" dirty="0"/>
          </a:p>
          <a:p>
            <a:r>
              <a:rPr lang="en-IN" sz="1800" b="1" dirty="0"/>
              <a:t>Stage 4: Structured Pruning</a:t>
            </a:r>
            <a:endParaRPr lang="en-IN" sz="1800" dirty="0"/>
          </a:p>
          <a:p>
            <a:r>
              <a:rPr lang="en-IN" sz="1800" b="1" dirty="0"/>
              <a:t>Stage 5: Classification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Deployment:</a:t>
            </a:r>
            <a:r>
              <a:rPr lang="en-IN" sz="1800" dirty="0"/>
              <a:t> Smart bins, mobile apps, edge devices for real-time waste sorting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DC6A9-A8BD-01F3-E4C9-FD9E88046A2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76599" y="2731143"/>
            <a:ext cx="5041783" cy="23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29" y="511426"/>
            <a:ext cx="9912999" cy="766844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3CE3-EF7F-7526-FB77-DC22209B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1409350"/>
            <a:ext cx="10145186" cy="4672667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2300" b="1" dirty="0"/>
              <a:t>Dataset:</a:t>
            </a:r>
            <a:endParaRPr lang="en-IN" sz="2300" dirty="0"/>
          </a:p>
          <a:p>
            <a:r>
              <a:rPr lang="en-IN" sz="2000" dirty="0"/>
              <a:t>Sources: </a:t>
            </a:r>
            <a:r>
              <a:rPr lang="en-IN" sz="2000" dirty="0" err="1"/>
              <a:t>TrashNet</a:t>
            </a:r>
            <a:r>
              <a:rPr lang="en-IN" sz="2000" dirty="0"/>
              <a:t> + Kaggle + </a:t>
            </a:r>
            <a:r>
              <a:rPr lang="en-IN" sz="2000" dirty="0" err="1"/>
              <a:t>PublicGarbageNet</a:t>
            </a:r>
            <a:r>
              <a:rPr lang="en-IN" sz="2000" dirty="0"/>
              <a:t> (15,000+ images, 14 classes)</a:t>
            </a:r>
          </a:p>
          <a:p>
            <a:r>
              <a:rPr lang="en-IN" sz="2000" dirty="0"/>
              <a:t>Resolution: </a:t>
            </a:r>
            <a:r>
              <a:rPr lang="en-IN" sz="2000" b="1" dirty="0"/>
              <a:t>224×224 pixels</a:t>
            </a:r>
            <a:endParaRPr lang="en-IN" sz="2000" dirty="0"/>
          </a:p>
          <a:p>
            <a:r>
              <a:rPr lang="en-IN" sz="2000" dirty="0"/>
              <a:t>Split: </a:t>
            </a:r>
            <a:r>
              <a:rPr lang="en-IN" sz="2000" b="1" dirty="0"/>
              <a:t>60% train | 20% validation | 20% test</a:t>
            </a:r>
            <a:endParaRPr lang="en-IN" sz="2000" dirty="0"/>
          </a:p>
          <a:p>
            <a:pPr marL="0" indent="0">
              <a:buNone/>
            </a:pPr>
            <a:r>
              <a:rPr lang="en-IN" sz="2300" b="1" dirty="0"/>
              <a:t>Hardware &amp; Software:</a:t>
            </a:r>
            <a:endParaRPr lang="en-IN" sz="2300" dirty="0"/>
          </a:p>
          <a:p>
            <a:r>
              <a:rPr lang="en-IN" sz="2000" dirty="0"/>
              <a:t>NVIDIA GPU acceleration</a:t>
            </a:r>
          </a:p>
          <a:p>
            <a:r>
              <a:rPr lang="en-IN" sz="2000" dirty="0"/>
              <a:t>Deep Learning framework (</a:t>
            </a:r>
            <a:r>
              <a:rPr lang="en-IN" sz="2000" dirty="0" err="1"/>
              <a:t>PyTorch</a:t>
            </a:r>
            <a:r>
              <a:rPr lang="en-IN" sz="2000" dirty="0"/>
              <a:t>/TensorFlow)</a:t>
            </a:r>
          </a:p>
          <a:p>
            <a:r>
              <a:rPr lang="en-IN" sz="2000" dirty="0"/>
              <a:t>Adam optimizer with learning rate </a:t>
            </a:r>
            <a:r>
              <a:rPr lang="en-IN" sz="2000" b="1" dirty="0"/>
              <a:t>0.001</a:t>
            </a:r>
            <a:endParaRPr lang="en-IN" sz="2000" dirty="0"/>
          </a:p>
          <a:p>
            <a:pPr marL="0" indent="0">
              <a:buNone/>
            </a:pPr>
            <a:r>
              <a:rPr lang="en-IN" sz="2300" b="1" dirty="0"/>
              <a:t>Training Strategy:</a:t>
            </a:r>
            <a:endParaRPr lang="en-IN" sz="2300" dirty="0"/>
          </a:p>
          <a:p>
            <a:r>
              <a:rPr lang="en-IN" sz="2000" b="1" dirty="0"/>
              <a:t>Augmentation:</a:t>
            </a:r>
            <a:r>
              <a:rPr lang="en-IN" sz="2000" dirty="0"/>
              <a:t> </a:t>
            </a:r>
            <a:r>
              <a:rPr lang="en-IN" sz="2000" dirty="0" err="1"/>
              <a:t>AutoAugment</a:t>
            </a:r>
            <a:r>
              <a:rPr lang="en-IN" sz="2000" dirty="0"/>
              <a:t> + </a:t>
            </a:r>
            <a:r>
              <a:rPr lang="en-IN" sz="2000" dirty="0" err="1"/>
              <a:t>Mixup</a:t>
            </a:r>
            <a:endParaRPr lang="en-IN" sz="2000" dirty="0"/>
          </a:p>
          <a:p>
            <a:r>
              <a:rPr lang="en-IN" sz="2000" b="1" dirty="0"/>
              <a:t>Regularization:</a:t>
            </a:r>
            <a:r>
              <a:rPr lang="en-IN" sz="2000" dirty="0"/>
              <a:t> EMA (decay=0.999)</a:t>
            </a:r>
          </a:p>
          <a:p>
            <a:r>
              <a:rPr lang="en-IN" sz="2000" b="1" dirty="0"/>
              <a:t>Pruning:</a:t>
            </a:r>
            <a:r>
              <a:rPr lang="en-IN" sz="2000" dirty="0"/>
              <a:t> L1-norm magnitude-based filter removal</a:t>
            </a:r>
          </a:p>
          <a:p>
            <a:r>
              <a:rPr lang="en-IN" sz="2000" b="1" dirty="0"/>
              <a:t>Fine-tuning:</a:t>
            </a:r>
            <a:r>
              <a:rPr lang="en-IN" sz="2000" dirty="0"/>
              <a:t> 15 epochs post-pruning</a:t>
            </a:r>
          </a:p>
          <a:p>
            <a:pPr marL="0" indent="0">
              <a:buNone/>
            </a:pPr>
            <a:r>
              <a:rPr lang="en-IN" sz="2300" b="1" dirty="0"/>
              <a:t>Evaluation Metrics:</a:t>
            </a:r>
            <a:endParaRPr lang="en-IN" sz="2300" dirty="0"/>
          </a:p>
          <a:p>
            <a:r>
              <a:rPr lang="en-IN" sz="2000" dirty="0"/>
              <a:t>Accuracy, F1-Score, Confusion Matrix</a:t>
            </a:r>
          </a:p>
          <a:p>
            <a:r>
              <a:rPr lang="en-IN" sz="2000" dirty="0"/>
              <a:t>Computational cost: FLOPs analysis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61" y="596764"/>
            <a:ext cx="9612567" cy="192141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</a:br>
            <a:r>
              <a:rPr lang="en-IN" sz="2000" b="1" dirty="0"/>
              <a:t>Performance Metrics:</a:t>
            </a:r>
            <a:br>
              <a:rPr lang="en-IN" sz="2000" dirty="0"/>
            </a:br>
            <a:r>
              <a:rPr lang="en-IN" sz="1600" b="1" dirty="0" err="1"/>
              <a:t>RepVGG</a:t>
            </a:r>
            <a:r>
              <a:rPr lang="en-IN" sz="1600" b="1" dirty="0"/>
              <a:t>-MEM (Pruned):</a:t>
            </a:r>
            <a:r>
              <a:rPr lang="en-IN" sz="1600" dirty="0"/>
              <a:t> </a:t>
            </a:r>
            <a:r>
              <a:rPr lang="en-IN" sz="1600" b="1" dirty="0"/>
              <a:t>95.06% Accuracy | 94.5% F1-Score | 0.55G FLOPs</a:t>
            </a:r>
            <a:br>
              <a:rPr lang="en-IN" sz="1600" dirty="0"/>
            </a:br>
            <a:r>
              <a:rPr lang="en-IN" sz="1600" b="1" dirty="0"/>
              <a:t>Improvement:</a:t>
            </a:r>
            <a:r>
              <a:rPr lang="en-IN" sz="1600" dirty="0"/>
              <a:t> +1.74% over baseline </a:t>
            </a:r>
            <a:r>
              <a:rPr lang="en-IN" sz="1600" dirty="0" err="1"/>
              <a:t>RepVGG</a:t>
            </a:r>
            <a:r>
              <a:rPr lang="en-IN" sz="1600" dirty="0"/>
              <a:t>-MEM with reduced computational cost</a:t>
            </a:r>
            <a:br>
              <a:rPr lang="en-IN" sz="1600" dirty="0"/>
            </a:br>
            <a:r>
              <a:rPr lang="en-IN" sz="1600" b="1" dirty="0"/>
              <a:t>Model Evolution Analysis:</a:t>
            </a:r>
            <a:br>
              <a:rPr lang="en-IN" sz="1600" dirty="0"/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8E158F-FD9F-E106-1BF6-D0DFF4142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712266"/>
              </p:ext>
            </p:extLst>
          </p:nvPr>
        </p:nvGraphicFramePr>
        <p:xfrm>
          <a:off x="1074821" y="2227930"/>
          <a:ext cx="9272338" cy="3579312"/>
        </p:xfrm>
        <a:graphic>
          <a:graphicData uri="http://schemas.openxmlformats.org/drawingml/2006/table">
            <a:tbl>
              <a:tblPr/>
              <a:tblGrid>
                <a:gridCol w="2321749">
                  <a:extLst>
                    <a:ext uri="{9D8B030D-6E8A-4147-A177-3AD203B41FA5}">
                      <a16:colId xmlns:a16="http://schemas.microsoft.com/office/drawing/2014/main" val="292951812"/>
                    </a:ext>
                  </a:extLst>
                </a:gridCol>
                <a:gridCol w="2321749">
                  <a:extLst>
                    <a:ext uri="{9D8B030D-6E8A-4147-A177-3AD203B41FA5}">
                      <a16:colId xmlns:a16="http://schemas.microsoft.com/office/drawing/2014/main" val="897199751"/>
                    </a:ext>
                  </a:extLst>
                </a:gridCol>
                <a:gridCol w="2321749">
                  <a:extLst>
                    <a:ext uri="{9D8B030D-6E8A-4147-A177-3AD203B41FA5}">
                      <a16:colId xmlns:a16="http://schemas.microsoft.com/office/drawing/2014/main" val="4125742526"/>
                    </a:ext>
                  </a:extLst>
                </a:gridCol>
                <a:gridCol w="2307091">
                  <a:extLst>
                    <a:ext uri="{9D8B030D-6E8A-4147-A177-3AD203B41FA5}">
                      <a16:colId xmlns:a16="http://schemas.microsoft.com/office/drawing/2014/main" val="749030678"/>
                    </a:ext>
                  </a:extLst>
                </a:gridCol>
              </a:tblGrid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844179"/>
                  </a:ext>
                </a:extLst>
              </a:tr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581722"/>
                  </a:ext>
                </a:extLst>
              </a:tr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404293"/>
                  </a:ext>
                </a:extLst>
              </a:tr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224959"/>
                  </a:ext>
                </a:extLst>
              </a:tr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85827"/>
                  </a:ext>
                </a:extLst>
              </a:tr>
              <a:tr h="596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098492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00C0A-E38F-0315-17A1-FDE1D41D9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409350"/>
              </p:ext>
            </p:extLst>
          </p:nvPr>
        </p:nvGraphicFramePr>
        <p:xfrm>
          <a:off x="921752" y="2406800"/>
          <a:ext cx="894370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926">
                  <a:extLst>
                    <a:ext uri="{9D8B030D-6E8A-4147-A177-3AD203B41FA5}">
                      <a16:colId xmlns:a16="http://schemas.microsoft.com/office/drawing/2014/main" val="94831475"/>
                    </a:ext>
                  </a:extLst>
                </a:gridCol>
                <a:gridCol w="2235926">
                  <a:extLst>
                    <a:ext uri="{9D8B030D-6E8A-4147-A177-3AD203B41FA5}">
                      <a16:colId xmlns:a16="http://schemas.microsoft.com/office/drawing/2014/main" val="1794739044"/>
                    </a:ext>
                  </a:extLst>
                </a:gridCol>
                <a:gridCol w="2235926">
                  <a:extLst>
                    <a:ext uri="{9D8B030D-6E8A-4147-A177-3AD203B41FA5}">
                      <a16:colId xmlns:a16="http://schemas.microsoft.com/office/drawing/2014/main" val="1488549233"/>
                    </a:ext>
                  </a:extLst>
                </a:gridCol>
                <a:gridCol w="2235926">
                  <a:extLst>
                    <a:ext uri="{9D8B030D-6E8A-4147-A177-3AD203B41FA5}">
                      <a16:colId xmlns:a16="http://schemas.microsoft.com/office/drawing/2014/main" val="1290272618"/>
                    </a:ext>
                  </a:extLst>
                </a:gridCol>
              </a:tblGrid>
              <a:tr h="34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 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549475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RepVGG</a:t>
                      </a:r>
                      <a:r>
                        <a:rPr lang="en-IN" dirty="0"/>
                        <a:t>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Standard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767127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RepVGG</a:t>
                      </a:r>
                      <a:r>
                        <a:rPr lang="en-IN" dirty="0"/>
                        <a:t>-M (</a:t>
                      </a:r>
                      <a:r>
                        <a:rPr lang="en-IN" dirty="0" err="1"/>
                        <a:t>Mixup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Minimal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797603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RepVGG</a:t>
                      </a:r>
                      <a:r>
                        <a:rPr lang="en-IN" dirty="0"/>
                        <a:t>-ME (</a:t>
                      </a:r>
                      <a:r>
                        <a:rPr lang="en-IN" dirty="0" err="1"/>
                        <a:t>Mixup+EMA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Slight enhancement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18527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RepVGG</a:t>
                      </a:r>
                      <a:r>
                        <a:rPr lang="en-IN" dirty="0"/>
                        <a:t>-MEM (Full)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91.77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MSCA drives major gain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903910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RepVGG</a:t>
                      </a:r>
                      <a:r>
                        <a:rPr lang="en-IN" b="1" dirty="0"/>
                        <a:t>-MEM (Pruned)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95.06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94.5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Pruning boosts accuracy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9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68A13-09B9-77F4-C4DA-DC48FC0EE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514" y="1681163"/>
            <a:ext cx="5157787" cy="684532"/>
          </a:xfrm>
        </p:spPr>
        <p:txBody>
          <a:bodyPr/>
          <a:lstStyle/>
          <a:p>
            <a:r>
              <a:rPr lang="en-IN" dirty="0"/>
              <a:t>Conclusion                                    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3061-9DB8-9679-86B0-883EB33101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 fontScale="47500" lnSpcReduction="20000"/>
          </a:bodyPr>
          <a:lstStyle/>
          <a:p>
            <a:r>
              <a:rPr lang="en-IN" sz="3400" dirty="0"/>
              <a:t>Developed </a:t>
            </a:r>
            <a:r>
              <a:rPr lang="en-IN" sz="3400" b="1" dirty="0" err="1"/>
              <a:t>RepVGG</a:t>
            </a:r>
            <a:r>
              <a:rPr lang="en-IN" sz="3400" b="1" dirty="0"/>
              <a:t>-MEM:</a:t>
            </a:r>
            <a:r>
              <a:rPr lang="en-IN" sz="3400" dirty="0"/>
              <a:t> Lightweight framework integrating EMA + </a:t>
            </a:r>
            <a:r>
              <a:rPr lang="en-IN" sz="3400" dirty="0" err="1"/>
              <a:t>Mixup</a:t>
            </a:r>
            <a:r>
              <a:rPr lang="en-IN" sz="3400" dirty="0"/>
              <a:t> + MSCA + Structured Pruning</a:t>
            </a:r>
          </a:p>
          <a:p>
            <a:r>
              <a:rPr lang="en-IN" sz="3400" dirty="0"/>
              <a:t>Achieved </a:t>
            </a:r>
            <a:r>
              <a:rPr lang="en-IN" sz="3400" b="1" dirty="0"/>
              <a:t>95.06% accuracy | 94.5% F1-score</a:t>
            </a:r>
            <a:r>
              <a:rPr lang="en-IN" sz="3400" dirty="0"/>
              <a:t> with </a:t>
            </a:r>
            <a:r>
              <a:rPr lang="en-IN" sz="3400" b="1" dirty="0"/>
              <a:t>0.55G FLOPs</a:t>
            </a:r>
            <a:r>
              <a:rPr lang="en-IN" sz="3400" dirty="0"/>
              <a:t> (+1.74% over baseline)</a:t>
            </a:r>
          </a:p>
          <a:p>
            <a:r>
              <a:rPr lang="en-IN" sz="3400" b="1" dirty="0"/>
              <a:t>Key Innovation:</a:t>
            </a:r>
            <a:r>
              <a:rPr lang="en-IN" sz="3400" dirty="0"/>
              <a:t> Unified holistic approach outperforms independent technique application</a:t>
            </a:r>
          </a:p>
          <a:p>
            <a:r>
              <a:rPr lang="en-IN" sz="3400" b="1" dirty="0"/>
              <a:t>Impact:</a:t>
            </a:r>
            <a:r>
              <a:rPr lang="en-IN" sz="3400" dirty="0"/>
              <a:t> Edge-ready deployment on smart bins, mobile platforms for real-time automated waste management</a:t>
            </a:r>
          </a:p>
          <a:p>
            <a:pPr marL="0" indent="0">
              <a:buNone/>
            </a:pPr>
            <a:r>
              <a:rPr lang="en-US" sz="3400" b="1" dirty="0"/>
              <a:t>Key Achievement:</a:t>
            </a:r>
          </a:p>
          <a:p>
            <a:pPr marL="0" indent="0">
              <a:buNone/>
            </a:pPr>
            <a:r>
              <a:rPr lang="en-US" sz="3400" dirty="0"/>
              <a:t>95.06% accuracy | 94.5% F1-score on 14-class waste dataset</a:t>
            </a:r>
          </a:p>
          <a:p>
            <a:pPr marL="0" indent="0">
              <a:buNone/>
            </a:pPr>
            <a:r>
              <a:rPr lang="en-US" sz="3400" dirty="0"/>
              <a:t>1.74% improvement over baseline with reduced computational cost</a:t>
            </a:r>
            <a:br>
              <a:rPr lang="en-IN" sz="2900" dirty="0"/>
            </a:br>
            <a:endParaRPr lang="en-IN" sz="29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687EE3-1E01-AC8A-20D1-26D20401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81163"/>
            <a:ext cx="5259388" cy="684532"/>
          </a:xfrm>
        </p:spPr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563006-F486-B68F-FA86-5AEB849C2A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900" b="1" dirty="0"/>
              <a:t>Dataset Expansion:</a:t>
            </a:r>
            <a:endParaRPr lang="en-IN" sz="2900" dirty="0"/>
          </a:p>
          <a:p>
            <a:r>
              <a:rPr lang="en-IN" sz="2900" dirty="0"/>
              <a:t>Include more waste categories and real-world conditions (poor lighting, mixed waste, occlusions)</a:t>
            </a:r>
          </a:p>
          <a:p>
            <a:r>
              <a:rPr lang="en-IN" sz="2900" dirty="0"/>
              <a:t>Address class imbalance (Plastic, Battery &lt;6%)</a:t>
            </a:r>
          </a:p>
          <a:p>
            <a:pPr marL="0" indent="0">
              <a:buNone/>
            </a:pPr>
            <a:r>
              <a:rPr lang="en-IN" sz="2900" b="1" dirty="0"/>
              <a:t>Model Enhancement:</a:t>
            </a:r>
            <a:endParaRPr lang="en-IN" sz="2900" dirty="0"/>
          </a:p>
          <a:p>
            <a:r>
              <a:rPr lang="en-IN" sz="2900" dirty="0"/>
              <a:t>Handle overlapping, damaged, and dusty waste items</a:t>
            </a:r>
          </a:p>
          <a:p>
            <a:r>
              <a:rPr lang="en-IN" sz="2900" dirty="0"/>
              <a:t>Optimize for ultra-low-powered IoT devices with faster inference</a:t>
            </a:r>
          </a:p>
          <a:p>
            <a:pPr marL="0" indent="0">
              <a:buNone/>
            </a:pPr>
            <a:r>
              <a:rPr lang="en-IN" sz="2900" b="1" dirty="0"/>
              <a:t>System Integration:</a:t>
            </a:r>
            <a:endParaRPr lang="en-IN" sz="2900" dirty="0"/>
          </a:p>
          <a:p>
            <a:r>
              <a:rPr lang="en-IN" sz="2900" dirty="0"/>
              <a:t>Real-time monitoring with sensor fusion (visual + weight + material data)</a:t>
            </a:r>
          </a:p>
          <a:p>
            <a:r>
              <a:rPr lang="en-IN" sz="2900" dirty="0"/>
              <a:t>Hybrid approaches: Computer vision + spectroscopy for improved accuracy</a:t>
            </a:r>
          </a:p>
          <a:p>
            <a:r>
              <a:rPr lang="en-IN" sz="2900" dirty="0"/>
              <a:t>Adaptive learning for new waste categories without full retraining</a:t>
            </a:r>
          </a:p>
          <a:p>
            <a:endParaRPr lang="en-IN" dirty="0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89" y="511425"/>
            <a:ext cx="9577439" cy="8643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910E-7C5B-2153-7E05-D1B777D4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789" y="1585519"/>
            <a:ext cx="9901904" cy="4287248"/>
          </a:xfrm>
        </p:spPr>
        <p:txBody>
          <a:bodyPr anchor="t">
            <a:normAutofit fontScale="85000" lnSpcReduction="20000"/>
          </a:bodyPr>
          <a:lstStyle/>
          <a:p>
            <a:pPr algn="just"/>
            <a:r>
              <a:rPr lang="en-IN" sz="2000" dirty="0"/>
              <a:t>[1] K. </a:t>
            </a:r>
            <a:r>
              <a:rPr lang="en-IN" sz="2000" dirty="0" err="1"/>
              <a:t>Lakshminadh</a:t>
            </a:r>
            <a:r>
              <a:rPr lang="en-IN" sz="2000" dirty="0"/>
              <a:t> et al., "Pest identification: An efficient deep learning approach using </a:t>
            </a:r>
            <a:r>
              <a:rPr lang="en-IN" sz="2000" dirty="0" err="1"/>
              <a:t>vgg</a:t>
            </a:r>
            <a:r>
              <a:rPr lang="en-IN" sz="2000" dirty="0"/>
              <a:t> networks," in IEEE International Conference on Interdisciplinary Approaches in Technology and Management for Social Innovation (IATMSI), 2025, pp. 1–6.</a:t>
            </a:r>
          </a:p>
          <a:p>
            <a:pPr algn="just"/>
            <a:r>
              <a:rPr lang="en-IN" sz="2000" dirty="0"/>
              <a:t>[2] K. V. N. Reddy, Y. Narendra, M. A. N. Reddy, A. Ramu, D. V. Reddy, and S. Moturi, "Traffic sign recognition using </a:t>
            </a:r>
            <a:r>
              <a:rPr lang="en-IN" sz="2000" dirty="0" err="1"/>
              <a:t>cnn</a:t>
            </a:r>
            <a:r>
              <a:rPr lang="en-IN" sz="2000" dirty="0"/>
              <a:t> deep learning," in IEEE International Conference on Interdisciplinary Approaches in Technology and Management for Social Innovation (IATMSI), 2025, pp. 1–6.</a:t>
            </a:r>
          </a:p>
          <a:p>
            <a:pPr algn="just"/>
            <a:r>
              <a:rPr lang="en-IN" sz="2000" dirty="0"/>
              <a:t>[3] S. L. </a:t>
            </a:r>
            <a:r>
              <a:rPr lang="en-IN" sz="2000" dirty="0" err="1"/>
              <a:t>Jagannadham</a:t>
            </a:r>
            <a:r>
              <a:rPr lang="en-IN" sz="2000" dirty="0"/>
              <a:t>, K. L. </a:t>
            </a:r>
            <a:r>
              <a:rPr lang="en-IN" sz="2000" dirty="0" err="1"/>
              <a:t>Nadh</a:t>
            </a:r>
            <a:r>
              <a:rPr lang="en-IN" sz="2000" dirty="0"/>
              <a:t>, and M. Sireesha, "Brain tumour detection using </a:t>
            </a:r>
            <a:r>
              <a:rPr lang="en-IN" sz="2000" dirty="0" err="1"/>
              <a:t>cnn</a:t>
            </a:r>
            <a:r>
              <a:rPr lang="en-IN" sz="2000" dirty="0"/>
              <a:t>," in 5th International Conference on I-SMAC (IoT in Social, Mobile, Analytics and Cloud), 2021, pp. 734–739.</a:t>
            </a:r>
          </a:p>
          <a:p>
            <a:pPr algn="just"/>
            <a:r>
              <a:rPr lang="en-IN" sz="2000" dirty="0"/>
              <a:t>[4] Q. Si and S. Ik Han, "</a:t>
            </a:r>
            <a:r>
              <a:rPr lang="en-IN" sz="2000" dirty="0" err="1"/>
              <a:t>Repvgg</a:t>
            </a:r>
            <a:r>
              <a:rPr lang="en-IN" sz="2000" dirty="0"/>
              <a:t>-mem: A lightweight model for garbage classification achieving a balance between accuracy and speed," IEEE Access, vol. 13, pp. 36 451–36 469, 2025.</a:t>
            </a:r>
          </a:p>
          <a:p>
            <a:pPr algn="just"/>
            <a:r>
              <a:rPr lang="en-IN" sz="2000" dirty="0"/>
              <a:t>[5] M. M. Hossen, M. E. Majid, S. B. A. Kashem, A. Khandakar, M. </a:t>
            </a:r>
            <a:r>
              <a:rPr lang="en-IN" sz="2000" dirty="0" err="1"/>
              <a:t>Nashbat</a:t>
            </a:r>
            <a:r>
              <a:rPr lang="en-IN" sz="2000" dirty="0"/>
              <a:t>, A. Ashraf, M. Hasan-Zia, A. K. A. Kunju, S. Kabir, and M. E. H. Chowdhury, "A reliable and robust deep learning model for effective recyclable waste classification," IEEE Access, vol. 12, pp. 13 809–13 821, 2024.</a:t>
            </a:r>
          </a:p>
          <a:p>
            <a:pPr algn="just"/>
            <a:r>
              <a:rPr lang="en-IN" sz="2000" dirty="0"/>
              <a:t>[6] H. M. Tran, T. M. Le, H. V. Pham et al., "An integrated learning approach for municipal waste classification using densenet161 and </a:t>
            </a:r>
            <a:r>
              <a:rPr lang="en-IN" sz="2000" dirty="0" err="1"/>
              <a:t>hho</a:t>
            </a:r>
            <a:r>
              <a:rPr lang="en-IN" sz="2000" dirty="0"/>
              <a:t>," IEEE Access, 2024. [Online]. Available: </a:t>
            </a:r>
            <a:r>
              <a:rPr lang="en-IN" sz="2000" dirty="0">
                <a:hlinkClick r:id="rId2"/>
              </a:rPr>
              <a:t>https://doi.org/10.1109/ACCESS.2024.3495982</a:t>
            </a:r>
            <a:endParaRPr lang="en-IN" sz="2000" dirty="0"/>
          </a:p>
          <a:p>
            <a:pPr algn="just"/>
            <a:r>
              <a:rPr lang="en-IN" sz="2000" dirty="0"/>
              <a:t>[7] J. R. Lapo and O. M. </a:t>
            </a:r>
            <a:r>
              <a:rPr lang="en-IN" sz="2000" dirty="0" err="1"/>
              <a:t>Cumbicus</a:t>
            </a:r>
            <a:r>
              <a:rPr lang="en-IN" sz="2000" dirty="0"/>
              <a:t>-Pineda, "Detection of recyclable solid waste using convolutional neural networks and </a:t>
            </a:r>
            <a:r>
              <a:rPr lang="en-IN" sz="2000" dirty="0" err="1"/>
              <a:t>pytorch</a:t>
            </a:r>
            <a:r>
              <a:rPr lang="en-IN" sz="2000" dirty="0"/>
              <a:t>," IEEE Latin America Transactions, vol. 22, no. 6, pp. 475–483, 2024.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449C0-267D-A5F1-8554-BBC1951F8C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4341" y="137261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IN" dirty="0"/>
              <a:t>[8] M. H. Dipo, F. A. Farid, M. S. A. Mahmud, M. Momtaz, S. Rahman, J. Uddin, and H. A. Karim, "Real-time waste detection and classification using yolov12-based deep learning model," Digital, vol. 5, no. 2, p. 19, 2025.</a:t>
            </a:r>
          </a:p>
          <a:p>
            <a:pPr algn="just"/>
            <a:r>
              <a:rPr lang="en-IN" dirty="0"/>
              <a:t>[9] G. I. Sayed, M. Abd </a:t>
            </a:r>
            <a:r>
              <a:rPr lang="en-IN" dirty="0" err="1"/>
              <a:t>Elfattah</a:t>
            </a:r>
            <a:r>
              <a:rPr lang="en-IN" dirty="0"/>
              <a:t>, A.-B. Darwish et al., "Intelligent and sustainable waste classification model based on multi-objective beluga whale optimization and deep learning," Environmental Science and Pollution Research, vol. 31, pp. 31 492–31 510, 2024. [Online]. Available: </a:t>
            </a:r>
            <a:r>
              <a:rPr lang="en-IN" dirty="0">
                <a:hlinkClick r:id="rId2"/>
              </a:rPr>
              <a:t>https://doi.org/10.1007/s11356-024-33233-w</a:t>
            </a:r>
            <a:endParaRPr lang="en-IN" dirty="0"/>
          </a:p>
          <a:p>
            <a:pPr algn="just"/>
            <a:r>
              <a:rPr lang="en-IN" dirty="0"/>
              <a:t>[10] M. Chhabra, B. Sharan, M. </a:t>
            </a:r>
            <a:r>
              <a:rPr lang="en-IN" dirty="0" err="1"/>
              <a:t>Elbarachi</a:t>
            </a:r>
            <a:r>
              <a:rPr lang="en-IN" dirty="0"/>
              <a:t>, and M. Kumar, "Intelligent waste classification approach based on improved multi-layered convolutional neural network," Multimedia Tools and Applications, vol. 31, pp. 84 095–84 120, 2024. [Online]. Available: </a:t>
            </a:r>
            <a:r>
              <a:rPr lang="en-IN" dirty="0">
                <a:hlinkClick r:id="rId3"/>
              </a:rPr>
              <a:t>https://doi.org/10.1007/s11042-024-18939-w</a:t>
            </a:r>
            <a:endParaRPr lang="en-IN" dirty="0"/>
          </a:p>
          <a:p>
            <a:pPr algn="just"/>
            <a:r>
              <a:rPr lang="en-IN" dirty="0"/>
              <a:t>[11] S. Rafi, A. L. Niharika, S. Neelima, K. Nikhitha, M. S. Reddy, and M. Sireesha, "Detecting sarcasm across headlines and text," in 2025 IEEE International Conference on Interdisciplinary Approaches in Technology and Management for Social Innovation (IATMSI), vol. 3, 2025, pp. 1–6.</a:t>
            </a:r>
          </a:p>
          <a:p>
            <a:pPr algn="just"/>
            <a:r>
              <a:rPr lang="en-IN" dirty="0"/>
              <a:t>[12] S. Moturi, M. </a:t>
            </a:r>
            <a:r>
              <a:rPr lang="en-IN" dirty="0" err="1"/>
              <a:t>Ainavolu</a:t>
            </a:r>
            <a:r>
              <a:rPr lang="en-IN" dirty="0"/>
              <a:t>, N. R. </a:t>
            </a:r>
            <a:r>
              <a:rPr lang="en-IN" dirty="0" err="1"/>
              <a:t>Dokku</a:t>
            </a:r>
            <a:r>
              <a:rPr lang="en-IN" dirty="0"/>
              <a:t>, P. Kasula, N. </a:t>
            </a:r>
            <a:r>
              <a:rPr lang="en-IN" dirty="0" err="1"/>
              <a:t>Yaragani</a:t>
            </a:r>
            <a:r>
              <a:rPr lang="en-IN" dirty="0"/>
              <a:t>, and V. Dodda, "Enhanced lung cancer detection using deep learning ensemble approach," in 2024 First International Conference for Women in Computing (</a:t>
            </a:r>
            <a:r>
              <a:rPr lang="en-IN" dirty="0" err="1"/>
              <a:t>InCoWoCo</a:t>
            </a:r>
            <a:r>
              <a:rPr lang="en-IN" dirty="0"/>
              <a:t>), 2024, pp. 1–7.</a:t>
            </a:r>
          </a:p>
          <a:p>
            <a:pPr algn="just"/>
            <a:r>
              <a:rPr lang="en-IN" dirty="0"/>
              <a:t>[13] D. </a:t>
            </a:r>
            <a:r>
              <a:rPr lang="en-IN" dirty="0" err="1"/>
              <a:t>Venkatareddy</a:t>
            </a:r>
            <a:r>
              <a:rPr lang="en-IN" dirty="0"/>
              <a:t>, K. N. Reddy, Y. Sowmya, Y. Madhavi, S. C. Asmi, and S. Moturi, "Explainable </a:t>
            </a:r>
            <a:r>
              <a:rPr lang="en-IN" dirty="0" err="1"/>
              <a:t>fetal</a:t>
            </a:r>
            <a:r>
              <a:rPr lang="en-IN" dirty="0"/>
              <a:t> ultrasound classification with </a:t>
            </a:r>
            <a:r>
              <a:rPr lang="en-IN" dirty="0" err="1"/>
              <a:t>cnn</a:t>
            </a:r>
            <a:r>
              <a:rPr lang="en-IN" dirty="0"/>
              <a:t> and </a:t>
            </a:r>
            <a:r>
              <a:rPr lang="en-IN" dirty="0" err="1"/>
              <a:t>mlp</a:t>
            </a:r>
            <a:r>
              <a:rPr lang="en-IN" dirty="0"/>
              <a:t> models," in 2024 First International Conference on Innovations in Communications, Electrical and Computer Engineering (ICICEC), 2024, pp. 1–7.</a:t>
            </a:r>
          </a:p>
          <a:p>
            <a:pPr algn="just"/>
            <a:r>
              <a:rPr lang="en-IN" dirty="0"/>
              <a:t>[14] S. L. </a:t>
            </a:r>
            <a:r>
              <a:rPr lang="en-IN" dirty="0" err="1"/>
              <a:t>Jagannadham</a:t>
            </a:r>
            <a:r>
              <a:rPr lang="en-IN" dirty="0"/>
              <a:t>, K. L. </a:t>
            </a:r>
            <a:r>
              <a:rPr lang="en-IN" dirty="0" err="1"/>
              <a:t>Nadh</a:t>
            </a:r>
            <a:r>
              <a:rPr lang="en-IN" dirty="0"/>
              <a:t>, and M. Sireesha, "Brain tumour detection using </a:t>
            </a:r>
            <a:r>
              <a:rPr lang="en-IN" dirty="0" err="1"/>
              <a:t>cnn</a:t>
            </a:r>
            <a:r>
              <a:rPr lang="en-IN" dirty="0"/>
              <a:t>," in 2021 Fifth International Conference on I-SMAC (IoT in Social, Mobile, Analytics and Cloud) (I-SMAC), 2021, pp. 734–739.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409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1816</Words>
  <Application>Microsoft Office PowerPoint</Application>
  <PresentationFormat>Widescreen</PresentationFormat>
  <Paragraphs>161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 State-of-the-Art Waste Classification Models:</vt:lpstr>
      <vt:lpstr>Proposed System Model</vt:lpstr>
      <vt:lpstr>Simulation Setup</vt:lpstr>
      <vt:lpstr>Result and Discussion Performance Metrics: RepVGG-MEM (Pruned): 95.06% Accuracy | 94.5% F1-Score | 0.55G FLOPs Improvement: +1.74% over baseline RepVGG-MEM with reduced computational cost Model Evolution Analysis: </vt:lpstr>
      <vt:lpstr>Conclusion &amp; Future Work</vt:lpstr>
      <vt:lpstr>References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Ramya kondavarju</cp:lastModifiedBy>
  <cp:revision>18</cp:revision>
  <dcterms:created xsi:type="dcterms:W3CDTF">2025-10-21T04:39:10Z</dcterms:created>
  <dcterms:modified xsi:type="dcterms:W3CDTF">2025-10-31T14:36:26Z</dcterms:modified>
</cp:coreProperties>
</file>